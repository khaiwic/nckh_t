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71E924-DC23-4CBC-9898-74F36535E498}"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B884D-8E32-49DA-BAEF-1F3E1356B756}" type="slidenum">
              <a:rPr lang="en-US" smtClean="0"/>
              <a:t>‹#›</a:t>
            </a:fld>
            <a:endParaRPr lang="en-US"/>
          </a:p>
        </p:txBody>
      </p:sp>
    </p:spTree>
    <p:extLst>
      <p:ext uri="{BB962C8B-B14F-4D97-AF65-F5344CB8AC3E}">
        <p14:creationId xmlns:p14="http://schemas.microsoft.com/office/powerpoint/2010/main" val="3237675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duy nhất: main.tex, mục 4.2. Đây là kiến trúc đề xuất hai cấp. Vòng ngoài Pure Pursuit dùng điểm nhìn trước và tư thế ước lượng để tạo vc, omega_c. Độ cong kappa_pp = 2 y_g^R / ell^2, với ell &gt; 0; gần đích phải dùng khoảng cách thực và tránh chia cho số quá nhỏ. Vận tốc hai bánh: vR_ref = vc + L omega_c / 2, vL_ref = vc - L omega_c / 2. Vòng trong PI/PID nhận sai số vận tốc từ encoder, giới hạn duty PWM và truyền lệnh qua TB6612. PI được chọn khởi đầu; chưa có hệ số cụ thể được xác nhận. Khi quá giới hạn bánh, giảm chung hai lệnh, sau đó vẫn kiểm tra gia tốc. Bộ bám không tự tìm đường tránh vật cản mới; nếu đường không còn hợp lệ thì dừng hoặc yêu cầu quy hoạch lại. Pure Pursuit chủ yếu bám hình học, không tự bảo đảm đồng bộ thời gian.</a:t>
            </a:r>
            <a:endParaRPr lang="en-US"/>
          </a:p>
        </p:txBody>
      </p:sp>
      <p:sp>
        <p:nvSpPr>
          <p:cNvPr id="4" name="Slide Number Placeholder 3"/>
          <p:cNvSpPr>
            <a:spLocks noGrp="1"/>
          </p:cNvSpPr>
          <p:nvPr>
            <p:ph type="sldNum" sz="quarter" idx="5"/>
          </p:nvPr>
        </p:nvSpPr>
        <p:spPr/>
        <p:txBody>
          <a:bodyPr/>
          <a:lstStyle/>
          <a:p>
            <a:fld id="{C4CB884D-8E32-49DA-BAEF-1F3E1356B756}" type="slidenum">
              <a:rPr lang="en-US" smtClean="0"/>
              <a:t>5</a:t>
            </a:fld>
            <a:endParaRPr lang="en-US"/>
          </a:p>
        </p:txBody>
      </p:sp>
    </p:spTree>
    <p:extLst>
      <p:ext uri="{BB962C8B-B14F-4D97-AF65-F5344CB8AC3E}">
        <p14:creationId xmlns:p14="http://schemas.microsoft.com/office/powerpoint/2010/main" val="1363252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Nguồn duy nhất: main.tex, mục 4.3. Báo cáo nêu rõ chưa có dữ liệu chạy robot, các bảng là biểu mẫu thực nghiệm. Không trình bày bất kỳ số đo hay kết quả suy diễn nào. Kịch bản 1 gồm đường thẳng và đường cong hình chữ S trong mặt phẳng; chữ S ở đây khác profile vận tốc chữ S. Kịch bản 2 dùng vật cản tĩnh đã đo và nhập bản đồ vì cấu hình hiện tại chỉ có encoder; không giả định khả năng tự phát hiện vật cản chưa biết. Cần lưu đầy đủ các lượt, kể cả thất bại. Nhật ký gồm thời gian, encoder, tốc độ đặt/đo, PWM, Odometry và trạng thái điều khiển. Đánh giá vị trí thực cần đo đối chứng; riêng encoder chưa đủ chứng minh độ chính xác vị trí thật. RMSE theo thời gian cần dữ liệu đồng bộ và lịch tham chiếu tương ứng. Các chỉ tiêu còn gồm sai số ngang, hướng, cuối, thời gian, khoảng hở và bão hòa PWM. Các ô Chưa đo giữ đúng trạng thái báo cáo.</a:t>
            </a:r>
            <a:endParaRPr lang="en-US"/>
          </a:p>
        </p:txBody>
      </p:sp>
      <p:sp>
        <p:nvSpPr>
          <p:cNvPr id="4" name="Slide Number Placeholder 3"/>
          <p:cNvSpPr>
            <a:spLocks noGrp="1"/>
          </p:cNvSpPr>
          <p:nvPr>
            <p:ph type="sldNum" sz="quarter" idx="5"/>
          </p:nvPr>
        </p:nvSpPr>
        <p:spPr/>
        <p:txBody>
          <a:bodyPr/>
          <a:lstStyle/>
          <a:p>
            <a:fld id="{C4CB884D-8E32-49DA-BAEF-1F3E1356B756}" type="slidenum">
              <a:rPr lang="en-US" smtClean="0"/>
              <a:t>6</a:t>
            </a:fld>
            <a:endParaRPr lang="en-US"/>
          </a:p>
        </p:txBody>
      </p:sp>
    </p:spTree>
    <p:extLst>
      <p:ext uri="{BB962C8B-B14F-4D97-AF65-F5344CB8AC3E}">
        <p14:creationId xmlns:p14="http://schemas.microsoft.com/office/powerpoint/2010/main" val="2999829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0B960-7770-0065-27B9-B1B95FF7C0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98532F-40E6-22DE-A28F-4A430F85EE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BBA311-98D2-1781-7123-A516EC05FE73}"/>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5" name="Footer Placeholder 4">
            <a:extLst>
              <a:ext uri="{FF2B5EF4-FFF2-40B4-BE49-F238E27FC236}">
                <a16:creationId xmlns:a16="http://schemas.microsoft.com/office/drawing/2014/main" id="{122B80FE-E5A5-BDD7-53B6-7FB5649284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50871-771A-CA4A-498E-9BEC543A04CB}"/>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131894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8581-5CEA-6335-8360-84FC71FD8D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A7DDBE-F277-DC2E-1A19-20D5D75FFB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0730BB-C04C-C93E-2A00-44583B4F68B6}"/>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5" name="Footer Placeholder 4">
            <a:extLst>
              <a:ext uri="{FF2B5EF4-FFF2-40B4-BE49-F238E27FC236}">
                <a16:creationId xmlns:a16="http://schemas.microsoft.com/office/drawing/2014/main" id="{567CDDDF-A739-EB98-5818-0B3B1ED563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93C8AC-FBAF-EACB-716F-A7FDBC035DC9}"/>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2102139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18325-A7F6-0CEA-3AB0-AA7A1FB739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B52C67-335B-A5EF-8B87-239A779D0B7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0B1044-EB6A-51D7-ED8D-C3F10AE11A1C}"/>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5" name="Footer Placeholder 4">
            <a:extLst>
              <a:ext uri="{FF2B5EF4-FFF2-40B4-BE49-F238E27FC236}">
                <a16:creationId xmlns:a16="http://schemas.microsoft.com/office/drawing/2014/main" id="{CD81B122-9EB9-B45C-B72D-999F3177EE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424A0F-69E1-8D0D-A000-AF85D728E06D}"/>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282995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F6DC-BDAC-62F8-8E6A-ADE70F2791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F4EE1B-41A0-E12B-4DE9-C104250E34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77E5A1-80C8-CD25-972E-C889B1D711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B2F8E2-DC59-431B-E9F5-030A16F65AFF}"/>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6" name="Footer Placeholder 5">
            <a:extLst>
              <a:ext uri="{FF2B5EF4-FFF2-40B4-BE49-F238E27FC236}">
                <a16:creationId xmlns:a16="http://schemas.microsoft.com/office/drawing/2014/main" id="{B5417D7A-2FE0-4239-BBD4-8507DAFAE8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898069-E6DE-D15E-7AA2-B28B4D01E65B}"/>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4268131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643EB-D01A-9F98-3595-0907BC67CE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1505A6-61D3-2397-1CAB-100CF44DBF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C3F49A-A36B-9C3A-7CF3-2A1EC3AC68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8AF099-1005-65C2-306B-E3733C9E83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89B5D3-F6D9-C78C-FC85-AA1B9D1F83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60FFDB-19B5-54C2-718D-09D9E512375C}"/>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8" name="Footer Placeholder 7">
            <a:extLst>
              <a:ext uri="{FF2B5EF4-FFF2-40B4-BE49-F238E27FC236}">
                <a16:creationId xmlns:a16="http://schemas.microsoft.com/office/drawing/2014/main" id="{08E96A30-71CE-DBC3-9938-5972C5B856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21825-634C-6088-0C42-975C61C62498}"/>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2360810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2E730-0A04-09F8-CB52-2EE11C14C4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C0F679-3066-95D7-6D6A-AAFF21FD6C8D}"/>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4" name="Footer Placeholder 3">
            <a:extLst>
              <a:ext uri="{FF2B5EF4-FFF2-40B4-BE49-F238E27FC236}">
                <a16:creationId xmlns:a16="http://schemas.microsoft.com/office/drawing/2014/main" id="{1F3A7596-C3DE-EF2D-A55D-6AD2E57748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8E36FB-977A-88F8-BFB0-298CDB9CEEAE}"/>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716571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7A87FC-10F9-5BB9-E0D2-6DE8452EC386}"/>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3" name="Footer Placeholder 2">
            <a:extLst>
              <a:ext uri="{FF2B5EF4-FFF2-40B4-BE49-F238E27FC236}">
                <a16:creationId xmlns:a16="http://schemas.microsoft.com/office/drawing/2014/main" id="{E5149865-58A0-7069-5B7B-2DAA84FC74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6191EB-0BD5-C20E-A067-A05E00E0716C}"/>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2310084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5652C-CF2E-9874-7EB6-01CFA2685C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24EB8-D090-5750-DBEC-6E9BBD52D1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2D0D3F-23E5-7696-DC64-09CECD68F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1CBE2D-6F06-7D5F-A9B7-CC5553014206}"/>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6" name="Footer Placeholder 5">
            <a:extLst>
              <a:ext uri="{FF2B5EF4-FFF2-40B4-BE49-F238E27FC236}">
                <a16:creationId xmlns:a16="http://schemas.microsoft.com/office/drawing/2014/main" id="{3CCAC1A0-43AD-CE0E-4A58-1C97FEB70E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408A53-1AC6-8CFE-6CD2-60E23CB565A8}"/>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2035448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7472-FAE7-4529-6CE4-7F820A8C82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06DE57-370A-33AE-7FE4-4360119F073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4C8D94-4081-57D6-A625-EAB0B2030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D52271-64CC-6CA2-1F54-EFC9FB563198}"/>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6" name="Footer Placeholder 5">
            <a:extLst>
              <a:ext uri="{FF2B5EF4-FFF2-40B4-BE49-F238E27FC236}">
                <a16:creationId xmlns:a16="http://schemas.microsoft.com/office/drawing/2014/main" id="{852DE3C7-900F-BA71-2B08-43DF300432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016EB1-CD47-0556-E717-DE4A382BB0D5}"/>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189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8D47-93A5-57F8-B2C0-D2FE4B1B14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1FC0A2-CEE2-99F5-ADD1-B0C6105001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E24DEC-AE56-D8E1-7530-922003C428FF}"/>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5" name="Footer Placeholder 4">
            <a:extLst>
              <a:ext uri="{FF2B5EF4-FFF2-40B4-BE49-F238E27FC236}">
                <a16:creationId xmlns:a16="http://schemas.microsoft.com/office/drawing/2014/main" id="{CFA5C4BD-8EF5-B652-D418-308C5BF26A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50622F-694F-1D10-B795-BA4B77C33739}"/>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3848376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05F3BC-FE01-AEBB-7A65-5232F99B06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443AD7-29DC-80FF-35E2-31F7332F23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C24433-5466-634C-B72D-E9E881289D47}"/>
              </a:ext>
            </a:extLst>
          </p:cNvPr>
          <p:cNvSpPr>
            <a:spLocks noGrp="1"/>
          </p:cNvSpPr>
          <p:nvPr>
            <p:ph type="dt" sz="half" idx="10"/>
          </p:nvPr>
        </p:nvSpPr>
        <p:spPr/>
        <p:txBody>
          <a:bodyPr/>
          <a:lstStyle/>
          <a:p>
            <a:fld id="{C54A85D7-EF29-4017-BC3F-FF164CFE8879}" type="datetimeFigureOut">
              <a:rPr lang="en-US" smtClean="0"/>
              <a:t>10/29/2026</a:t>
            </a:fld>
            <a:endParaRPr lang="en-US"/>
          </a:p>
        </p:txBody>
      </p:sp>
      <p:sp>
        <p:nvSpPr>
          <p:cNvPr id="5" name="Footer Placeholder 4">
            <a:extLst>
              <a:ext uri="{FF2B5EF4-FFF2-40B4-BE49-F238E27FC236}">
                <a16:creationId xmlns:a16="http://schemas.microsoft.com/office/drawing/2014/main" id="{0B5245B1-BEAD-9A55-CBB4-0DF90D423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9D782-C882-C76E-AFD0-0A40AEFA69C6}"/>
              </a:ext>
            </a:extLst>
          </p:cNvPr>
          <p:cNvSpPr>
            <a:spLocks noGrp="1"/>
          </p:cNvSpPr>
          <p:nvPr>
            <p:ph type="sldNum" sz="quarter" idx="12"/>
          </p:nvPr>
        </p:nvSpPr>
        <p:spPr/>
        <p:txBody>
          <a:bodyPr/>
          <a:lstStyle/>
          <a:p>
            <a:fld id="{17F2BD93-B7C2-4C06-B0E6-5CF4AB29B87F}" type="slidenum">
              <a:rPr lang="en-US" smtClean="0"/>
              <a:t>‹#›</a:t>
            </a:fld>
            <a:endParaRPr lang="en-US"/>
          </a:p>
        </p:txBody>
      </p:sp>
    </p:spTree>
    <p:extLst>
      <p:ext uri="{BB962C8B-B14F-4D97-AF65-F5344CB8AC3E}">
        <p14:creationId xmlns:p14="http://schemas.microsoft.com/office/powerpoint/2010/main" val="647489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1CFE7A-D57B-A1C1-F921-AAD9E94B0C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3BCBBA-C743-5F46-6F52-A456941C03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AEBBB-3F7E-D6F0-E68B-C78ECF573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4A85D7-EF29-4017-BC3F-FF164CFE8879}" type="datetimeFigureOut">
              <a:rPr lang="en-US" smtClean="0"/>
              <a:t>10/29/2026</a:t>
            </a:fld>
            <a:endParaRPr lang="en-US"/>
          </a:p>
        </p:txBody>
      </p:sp>
      <p:sp>
        <p:nvSpPr>
          <p:cNvPr id="5" name="Footer Placeholder 4">
            <a:extLst>
              <a:ext uri="{FF2B5EF4-FFF2-40B4-BE49-F238E27FC236}">
                <a16:creationId xmlns:a16="http://schemas.microsoft.com/office/drawing/2014/main" id="{C5705D0A-BA32-274F-A8D8-4E2CC9BBA6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74828C-60D8-8B76-6353-D268563CBF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F2BD93-B7C2-4C06-B0E6-5CF4AB29B87F}" type="slidenum">
              <a:rPr lang="en-US" smtClean="0"/>
              <a:t>‹#›</a:t>
            </a:fld>
            <a:endParaRPr lang="en-US"/>
          </a:p>
        </p:txBody>
      </p:sp>
    </p:spTree>
    <p:extLst>
      <p:ext uri="{BB962C8B-B14F-4D97-AF65-F5344CB8AC3E}">
        <p14:creationId xmlns:p14="http://schemas.microsoft.com/office/powerpoint/2010/main" val="4173204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E3E1EA-0077-5171-31B1-87DFB09725F5}"/>
              </a:ext>
            </a:extLst>
          </p:cNvPr>
          <p:cNvSpPr/>
          <p:nvPr/>
        </p:nvSpPr>
        <p:spPr>
          <a:xfrm>
            <a:off x="0" y="0"/>
            <a:ext cx="12192000" cy="6858000"/>
          </a:xfrm>
          <a:prstGeom prst="rect">
            <a:avLst/>
          </a:prstGeom>
          <a:solidFill>
            <a:srgbClr val="FFFFFF"/>
          </a:solidFill>
          <a:ln w="1016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7331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AB0B7B-51BE-25B0-E99C-9264E3198B93}"/>
              </a:ext>
            </a:extLst>
          </p:cNvPr>
          <p:cNvSpPr/>
          <p:nvPr/>
        </p:nvSpPr>
        <p:spPr>
          <a:xfrm>
            <a:off x="0" y="0"/>
            <a:ext cx="12192000" cy="6858000"/>
          </a:xfrm>
          <a:prstGeom prst="rect">
            <a:avLst/>
          </a:prstGeom>
          <a:solidFill>
            <a:srgbClr val="FFFFFF"/>
          </a:solidFill>
          <a:ln w="1016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1815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0B8137-6D4B-E441-DFA5-5E2BB5BB28E5}"/>
              </a:ext>
            </a:extLst>
          </p:cNvPr>
          <p:cNvSpPr/>
          <p:nvPr/>
        </p:nvSpPr>
        <p:spPr>
          <a:xfrm>
            <a:off x="0" y="0"/>
            <a:ext cx="12192000" cy="6858000"/>
          </a:xfrm>
          <a:prstGeom prst="rect">
            <a:avLst/>
          </a:prstGeom>
          <a:solidFill>
            <a:srgbClr val="FFFFFF"/>
          </a:solidFill>
          <a:ln w="1016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3735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3383E5-A818-24EF-7519-D042E5E9F98D}"/>
              </a:ext>
            </a:extLst>
          </p:cNvPr>
          <p:cNvSpPr/>
          <p:nvPr/>
        </p:nvSpPr>
        <p:spPr>
          <a:xfrm>
            <a:off x="0" y="0"/>
            <a:ext cx="12192000" cy="6858000"/>
          </a:xfrm>
          <a:prstGeom prst="rect">
            <a:avLst/>
          </a:prstGeom>
          <a:solidFill>
            <a:srgbClr val="FFFFFF"/>
          </a:solidFill>
          <a:ln w="1016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540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68F46-1ECF-AB42-20AB-7DC610906BFD}"/>
              </a:ext>
            </a:extLst>
          </p:cNvPr>
          <p:cNvSpPr/>
          <p:nvPr/>
        </p:nvSpPr>
        <p:spPr>
          <a:xfrm>
            <a:off x="0" y="0"/>
            <a:ext cx="12192000" cy="1701800"/>
          </a:xfrm>
          <a:prstGeom prst="rect">
            <a:avLst/>
          </a:prstGeom>
          <a:solidFill>
            <a:srgbClr val="ED1010"/>
          </a:solidFill>
          <a:ln w="10160">
            <a:solidFill>
              <a:srgbClr val="ED10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D0297A0-65F6-B733-8FBA-3534CC203C89}"/>
              </a:ext>
            </a:extLst>
          </p:cNvPr>
          <p:cNvSpPr/>
          <p:nvPr/>
        </p:nvSpPr>
        <p:spPr>
          <a:xfrm rot="5400000">
            <a:off x="-323850" y="812800"/>
            <a:ext cx="1638300" cy="12700"/>
          </a:xfrm>
          <a:prstGeom prst="rect">
            <a:avLst/>
          </a:prstGeom>
          <a:solidFill>
            <a:srgbClr val="FFC2C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84B8AF3-9CB4-34A6-7015-7025698615F1}"/>
              </a:ext>
            </a:extLst>
          </p:cNvPr>
          <p:cNvSpPr/>
          <p:nvPr/>
        </p:nvSpPr>
        <p:spPr>
          <a:xfrm>
            <a:off x="952500" y="1657350"/>
            <a:ext cx="1054100" cy="12700"/>
          </a:xfrm>
          <a:prstGeom prst="rect">
            <a:avLst/>
          </a:prstGeom>
          <a:solidFill>
            <a:srgbClr val="FFAA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9220A90-5585-A5FF-9B2F-A25930DFD855}"/>
              </a:ext>
            </a:extLst>
          </p:cNvPr>
          <p:cNvSpPr txBox="1"/>
          <p:nvPr/>
        </p:nvSpPr>
        <p:spPr>
          <a:xfrm>
            <a:off x="736600" y="254000"/>
            <a:ext cx="10287000" cy="276999"/>
          </a:xfrm>
          <a:prstGeom prst="rect">
            <a:avLst/>
          </a:prstGeom>
          <a:noFill/>
        </p:spPr>
        <p:txBody>
          <a:bodyPr vert="horz" wrap="none" lIns="0" tIns="0" rIns="0" bIns="0" rtlCol="0">
            <a:noAutofit/>
          </a:bodyPr>
          <a:lstStyle/>
          <a:p>
            <a:r>
              <a:rPr lang="en-US" sz="3400" b="1">
                <a:solidFill>
                  <a:srgbClr val="FFFFFF"/>
                </a:solidFill>
                <a:latin typeface="Arial" panose="020B0604020202020204" pitchFamily="34" charset="0"/>
              </a:rPr>
              <a:t>4.2 Kiến trúc điều khiển
bám quỹ đạo</a:t>
            </a:r>
          </a:p>
        </p:txBody>
      </p:sp>
      <p:sp>
        <p:nvSpPr>
          <p:cNvPr id="6" name="TextBox 5">
            <a:extLst>
              <a:ext uri="{FF2B5EF4-FFF2-40B4-BE49-F238E27FC236}">
                <a16:creationId xmlns:a16="http://schemas.microsoft.com/office/drawing/2014/main" id="{26877B1A-CC2F-678D-A968-2584EF57C126}"/>
              </a:ext>
            </a:extLst>
          </p:cNvPr>
          <p:cNvSpPr txBox="1"/>
          <p:nvPr/>
        </p:nvSpPr>
        <p:spPr>
          <a:xfrm>
            <a:off x="10337800" y="1371600"/>
            <a:ext cx="1587500" cy="276999"/>
          </a:xfrm>
          <a:prstGeom prst="rect">
            <a:avLst/>
          </a:prstGeom>
          <a:noFill/>
        </p:spPr>
        <p:txBody>
          <a:bodyPr vert="horz" wrap="none" lIns="0" tIns="0" rIns="0" bIns="0" rtlCol="0">
            <a:noAutofit/>
          </a:bodyPr>
          <a:lstStyle/>
          <a:p>
            <a:pPr algn="r"/>
            <a:r>
              <a:rPr lang="vi-VN" sz="1000" b="1">
                <a:solidFill>
                  <a:srgbClr val="FFE5E5"/>
                </a:solidFill>
                <a:latin typeface="Arial" panose="020B0604020202020204" pitchFamily="34" charset="0"/>
              </a:rPr>
              <a:t>CHƯƠNG IV</a:t>
            </a:r>
            <a:endParaRPr lang="en-US" sz="1000" b="1">
              <a:solidFill>
                <a:srgbClr val="FFE5E5"/>
              </a:solidFill>
              <a:latin typeface="Arial" panose="020B0604020202020204" pitchFamily="34" charset="0"/>
            </a:endParaRPr>
          </a:p>
        </p:txBody>
      </p:sp>
      <p:sp>
        <p:nvSpPr>
          <p:cNvPr id="7" name="Rectangle 6">
            <a:extLst>
              <a:ext uri="{FF2B5EF4-FFF2-40B4-BE49-F238E27FC236}">
                <a16:creationId xmlns:a16="http://schemas.microsoft.com/office/drawing/2014/main" id="{D2A09185-1A93-0F07-C52B-3AE41A0171F3}"/>
              </a:ext>
            </a:extLst>
          </p:cNvPr>
          <p:cNvSpPr/>
          <p:nvPr/>
        </p:nvSpPr>
        <p:spPr>
          <a:xfrm>
            <a:off x="444500" y="6472555"/>
            <a:ext cx="11303000" cy="889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7116217-7206-20A5-5CB8-CD2F6A5E96C2}"/>
              </a:ext>
            </a:extLst>
          </p:cNvPr>
          <p:cNvSpPr txBox="1"/>
          <p:nvPr/>
        </p:nvSpPr>
        <p:spPr>
          <a:xfrm>
            <a:off x="444500" y="6591300"/>
            <a:ext cx="10477500" cy="276999"/>
          </a:xfrm>
          <a:prstGeom prst="rect">
            <a:avLst/>
          </a:prstGeom>
          <a:noFill/>
        </p:spPr>
        <p:txBody>
          <a:bodyPr vert="horz" wrap="none" lIns="0" tIns="0" rIns="0" bIns="0" rtlCol="0">
            <a:noAutofit/>
          </a:bodyPr>
          <a:lstStyle/>
          <a:p>
            <a:r>
              <a:rPr lang="vi-VN" sz="900">
                <a:solidFill>
                  <a:srgbClr val="666666"/>
                </a:solidFill>
                <a:latin typeface="Arial" panose="020B0604020202020204" pitchFamily="34" charset="0"/>
              </a:rPr>
              <a:t>Nguồn: main.tex, mục 4.2 • Kiến trúc đề xuất; hệ số điều khiển được chốt sau thử nghiệm.</a:t>
            </a:r>
            <a:endParaRPr lang="en-US" sz="900">
              <a:solidFill>
                <a:srgbClr val="666666"/>
              </a:solidFill>
              <a:latin typeface="Arial" panose="020B0604020202020204" pitchFamily="34" charset="0"/>
            </a:endParaRPr>
          </a:p>
        </p:txBody>
      </p:sp>
      <p:sp>
        <p:nvSpPr>
          <p:cNvPr id="9" name="TextBox 8">
            <a:extLst>
              <a:ext uri="{FF2B5EF4-FFF2-40B4-BE49-F238E27FC236}">
                <a16:creationId xmlns:a16="http://schemas.microsoft.com/office/drawing/2014/main" id="{C8FF8975-5243-6FD0-1948-86F8023BF66D}"/>
              </a:ext>
            </a:extLst>
          </p:cNvPr>
          <p:cNvSpPr txBox="1"/>
          <p:nvPr/>
        </p:nvSpPr>
        <p:spPr>
          <a:xfrm>
            <a:off x="10922000" y="6565900"/>
            <a:ext cx="825500" cy="276999"/>
          </a:xfrm>
          <a:prstGeom prst="rect">
            <a:avLst/>
          </a:prstGeom>
          <a:noFill/>
        </p:spPr>
        <p:txBody>
          <a:bodyPr vert="horz" wrap="none" lIns="0" tIns="0" rIns="0" bIns="0" rtlCol="0">
            <a:noAutofit/>
          </a:bodyPr>
          <a:lstStyle/>
          <a:p>
            <a:pPr algn="r"/>
            <a:r>
              <a:rPr lang="en-US" sz="1100">
                <a:solidFill>
                  <a:srgbClr val="777777"/>
                </a:solidFill>
                <a:latin typeface="Arial" panose="020B0604020202020204" pitchFamily="34" charset="0"/>
              </a:rPr>
              <a:t>18 / 19</a:t>
            </a:r>
          </a:p>
        </p:txBody>
      </p:sp>
      <p:sp>
        <p:nvSpPr>
          <p:cNvPr id="10" name="Rectangle: Rounded Corners 9">
            <a:extLst>
              <a:ext uri="{FF2B5EF4-FFF2-40B4-BE49-F238E27FC236}">
                <a16:creationId xmlns:a16="http://schemas.microsoft.com/office/drawing/2014/main" id="{D542FE68-9C3C-2151-4884-A82D048E299F}"/>
              </a:ext>
            </a:extLst>
          </p:cNvPr>
          <p:cNvSpPr/>
          <p:nvPr/>
        </p:nvSpPr>
        <p:spPr>
          <a:xfrm>
            <a:off x="1016000" y="2006600"/>
            <a:ext cx="4254500" cy="546100"/>
          </a:xfrm>
          <a:prstGeom prst="roundRect">
            <a:avLst/>
          </a:prstGeom>
          <a:solidFill>
            <a:srgbClr val="F6F6F6"/>
          </a:solidFill>
          <a:ln w="10160">
            <a:solidFill>
              <a:srgbClr val="F6F6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AE1386-8201-1320-FDD3-42B0006AF61F}"/>
              </a:ext>
            </a:extLst>
          </p:cNvPr>
          <p:cNvSpPr txBox="1"/>
          <p:nvPr/>
        </p:nvSpPr>
        <p:spPr>
          <a:xfrm>
            <a:off x="1168400" y="2120900"/>
            <a:ext cx="3949700" cy="276999"/>
          </a:xfrm>
          <a:prstGeom prst="rect">
            <a:avLst/>
          </a:prstGeom>
          <a:noFill/>
        </p:spPr>
        <p:txBody>
          <a:bodyPr vert="horz" wrap="none" lIns="0" tIns="0" rIns="0" bIns="0" rtlCol="0">
            <a:noAutofit/>
          </a:bodyPr>
          <a:lstStyle/>
          <a:p>
            <a:pPr algn="ctr"/>
            <a:r>
              <a:rPr lang="vi-VN" sz="1600" b="1">
                <a:solidFill>
                  <a:srgbClr val="333333"/>
                </a:solidFill>
                <a:latin typeface="Arial" panose="020B0604020202020204" pitchFamily="34" charset="0"/>
              </a:rPr>
              <a:t>Đường tham chiếu + tư thế ước lượng</a:t>
            </a:r>
            <a:endParaRPr lang="en-US" sz="1600" b="1">
              <a:solidFill>
                <a:srgbClr val="333333"/>
              </a:solidFill>
              <a:latin typeface="Arial" panose="020B0604020202020204" pitchFamily="34" charset="0"/>
            </a:endParaRPr>
          </a:p>
        </p:txBody>
      </p:sp>
      <p:sp>
        <p:nvSpPr>
          <p:cNvPr id="12" name="Rectangle 11">
            <a:extLst>
              <a:ext uri="{FF2B5EF4-FFF2-40B4-BE49-F238E27FC236}">
                <a16:creationId xmlns:a16="http://schemas.microsoft.com/office/drawing/2014/main" id="{B5C1950E-170F-5A97-9F38-F12DA095DEB7}"/>
              </a:ext>
            </a:extLst>
          </p:cNvPr>
          <p:cNvSpPr/>
          <p:nvPr/>
        </p:nvSpPr>
        <p:spPr>
          <a:xfrm rot="5400000">
            <a:off x="3054350" y="2635250"/>
            <a:ext cx="165100" cy="25400"/>
          </a:xfrm>
          <a:prstGeom prst="rect">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0E554FEF-5B8C-3AD1-D79F-4D15D36E3C2B}"/>
              </a:ext>
            </a:extLst>
          </p:cNvPr>
          <p:cNvSpPr/>
          <p:nvPr/>
        </p:nvSpPr>
        <p:spPr>
          <a:xfrm rot="10800000">
            <a:off x="3073400" y="2667000"/>
            <a:ext cx="127000" cy="127000"/>
          </a:xfrm>
          <a:prstGeom prst="triangle">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DDCC957-FFE5-D857-2503-1936BBC757B7}"/>
              </a:ext>
            </a:extLst>
          </p:cNvPr>
          <p:cNvSpPr/>
          <p:nvPr/>
        </p:nvSpPr>
        <p:spPr>
          <a:xfrm>
            <a:off x="1016000" y="2794000"/>
            <a:ext cx="4254500" cy="7112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CC9F704-5C3A-CE13-00DB-8B09087A8DC2}"/>
              </a:ext>
            </a:extLst>
          </p:cNvPr>
          <p:cNvSpPr txBox="1"/>
          <p:nvPr/>
        </p:nvSpPr>
        <p:spPr>
          <a:xfrm>
            <a:off x="1168400" y="2908300"/>
            <a:ext cx="3949700" cy="276999"/>
          </a:xfrm>
          <a:prstGeom prst="rect">
            <a:avLst/>
          </a:prstGeom>
          <a:noFill/>
        </p:spPr>
        <p:txBody>
          <a:bodyPr vert="horz" wrap="none" lIns="0" tIns="0" rIns="0" bIns="0" rtlCol="0">
            <a:noAutofit/>
          </a:bodyPr>
          <a:lstStyle/>
          <a:p>
            <a:pPr algn="ctr"/>
            <a:r>
              <a:rPr lang="en-US" sz="1600" b="1">
                <a:solidFill>
                  <a:srgbClr val="333333"/>
                </a:solidFill>
                <a:latin typeface="Arial" panose="020B0604020202020204" pitchFamily="34" charset="0"/>
              </a:rPr>
              <a:t>Pure Pursuit
Vận tốc thân xe (vc, </a:t>
            </a:r>
            <a:r>
              <a:rPr lang="el-GR" sz="1600" b="1">
                <a:solidFill>
                  <a:srgbClr val="333333"/>
                </a:solidFill>
                <a:latin typeface="Arial" panose="020B0604020202020204" pitchFamily="34" charset="0"/>
              </a:rPr>
              <a:t>ω</a:t>
            </a:r>
            <a:r>
              <a:rPr lang="en-US" sz="1600" b="1">
                <a:solidFill>
                  <a:srgbClr val="333333"/>
                </a:solidFill>
                <a:latin typeface="Arial" panose="020B0604020202020204" pitchFamily="34" charset="0"/>
              </a:rPr>
              <a:t>c)</a:t>
            </a:r>
          </a:p>
        </p:txBody>
      </p:sp>
      <p:sp>
        <p:nvSpPr>
          <p:cNvPr id="16" name="Rectangle 15">
            <a:extLst>
              <a:ext uri="{FF2B5EF4-FFF2-40B4-BE49-F238E27FC236}">
                <a16:creationId xmlns:a16="http://schemas.microsoft.com/office/drawing/2014/main" id="{F1C26392-AE78-D69C-D3C5-7EBEFD0543DD}"/>
              </a:ext>
            </a:extLst>
          </p:cNvPr>
          <p:cNvSpPr/>
          <p:nvPr/>
        </p:nvSpPr>
        <p:spPr>
          <a:xfrm rot="5400000">
            <a:off x="3060700" y="3581400"/>
            <a:ext cx="152400" cy="25400"/>
          </a:xfrm>
          <a:prstGeom prst="rect">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2E83FF0F-8AC8-F765-1254-82F2D488CB0C}"/>
              </a:ext>
            </a:extLst>
          </p:cNvPr>
          <p:cNvSpPr/>
          <p:nvPr/>
        </p:nvSpPr>
        <p:spPr>
          <a:xfrm rot="10800000">
            <a:off x="3073400" y="3606800"/>
            <a:ext cx="127000" cy="127000"/>
          </a:xfrm>
          <a:prstGeom prst="triangle">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52784610-E4C6-148B-27CB-44E3DEEDEBE6}"/>
              </a:ext>
            </a:extLst>
          </p:cNvPr>
          <p:cNvSpPr/>
          <p:nvPr/>
        </p:nvSpPr>
        <p:spPr>
          <a:xfrm>
            <a:off x="1016000" y="3746500"/>
            <a:ext cx="4254500" cy="723900"/>
          </a:xfrm>
          <a:prstGeom prst="roundRect">
            <a:avLst/>
          </a:prstGeom>
          <a:solidFill>
            <a:srgbClr val="F6F6F6"/>
          </a:solidFill>
          <a:ln w="10160">
            <a:solidFill>
              <a:srgbClr val="F6F6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3435DE9-7FEE-0DFC-52E6-E605CB5A0176}"/>
              </a:ext>
            </a:extLst>
          </p:cNvPr>
          <p:cNvSpPr txBox="1"/>
          <p:nvPr/>
        </p:nvSpPr>
        <p:spPr>
          <a:xfrm>
            <a:off x="1168400" y="3860800"/>
            <a:ext cx="3949700" cy="276999"/>
          </a:xfrm>
          <a:prstGeom prst="rect">
            <a:avLst/>
          </a:prstGeom>
          <a:noFill/>
        </p:spPr>
        <p:txBody>
          <a:bodyPr vert="horz" wrap="none" lIns="0" tIns="0" rIns="0" bIns="0" rtlCol="0">
            <a:noAutofit/>
          </a:bodyPr>
          <a:lstStyle/>
          <a:p>
            <a:pPr algn="ctr"/>
            <a:r>
              <a:rPr lang="en-US" sz="1600" b="1">
                <a:solidFill>
                  <a:srgbClr val="333333"/>
                </a:solidFill>
                <a:latin typeface="Arial" panose="020B0604020202020204" pitchFamily="34" charset="0"/>
              </a:rPr>
              <a:t>Đổi lệnh vận tốc hai bánh
vR = vc + L</a:t>
            </a:r>
            <a:r>
              <a:rPr lang="el-GR" sz="1600" b="1">
                <a:solidFill>
                  <a:srgbClr val="333333"/>
                </a:solidFill>
                <a:latin typeface="Arial" panose="020B0604020202020204" pitchFamily="34" charset="0"/>
              </a:rPr>
              <a:t>ω</a:t>
            </a:r>
            <a:r>
              <a:rPr lang="en-US" sz="1600" b="1">
                <a:solidFill>
                  <a:srgbClr val="333333"/>
                </a:solidFill>
                <a:latin typeface="Arial" panose="020B0604020202020204" pitchFamily="34" charset="0"/>
              </a:rPr>
              <a:t>c/2; vL = vc − L</a:t>
            </a:r>
            <a:r>
              <a:rPr lang="el-GR" sz="1600" b="1">
                <a:solidFill>
                  <a:srgbClr val="333333"/>
                </a:solidFill>
                <a:latin typeface="Arial" panose="020B0604020202020204" pitchFamily="34" charset="0"/>
              </a:rPr>
              <a:t>ω</a:t>
            </a:r>
            <a:r>
              <a:rPr lang="en-US" sz="1600" b="1">
                <a:solidFill>
                  <a:srgbClr val="333333"/>
                </a:solidFill>
                <a:latin typeface="Arial" panose="020B0604020202020204" pitchFamily="34" charset="0"/>
              </a:rPr>
              <a:t>c/2</a:t>
            </a:r>
          </a:p>
        </p:txBody>
      </p:sp>
      <p:sp>
        <p:nvSpPr>
          <p:cNvPr id="20" name="Rectangle 19">
            <a:extLst>
              <a:ext uri="{FF2B5EF4-FFF2-40B4-BE49-F238E27FC236}">
                <a16:creationId xmlns:a16="http://schemas.microsoft.com/office/drawing/2014/main" id="{6C763A82-DB59-1F91-975B-609F6EEB6BE9}"/>
              </a:ext>
            </a:extLst>
          </p:cNvPr>
          <p:cNvSpPr/>
          <p:nvPr/>
        </p:nvSpPr>
        <p:spPr>
          <a:xfrm rot="5400000">
            <a:off x="3060700" y="4546600"/>
            <a:ext cx="152400" cy="25400"/>
          </a:xfrm>
          <a:prstGeom prst="rect">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55BD9C81-5662-E0DD-F19F-D18986EABE70}"/>
              </a:ext>
            </a:extLst>
          </p:cNvPr>
          <p:cNvSpPr/>
          <p:nvPr/>
        </p:nvSpPr>
        <p:spPr>
          <a:xfrm rot="10800000">
            <a:off x="3073400" y="4572000"/>
            <a:ext cx="127000" cy="127000"/>
          </a:xfrm>
          <a:prstGeom prst="triangle">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466F10CE-9CD7-37F2-8E81-76371A8AF0B3}"/>
              </a:ext>
            </a:extLst>
          </p:cNvPr>
          <p:cNvSpPr/>
          <p:nvPr/>
        </p:nvSpPr>
        <p:spPr>
          <a:xfrm>
            <a:off x="1016000" y="4711700"/>
            <a:ext cx="4254500" cy="7112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3505642-8E41-E96A-3F49-1309F760EF1D}"/>
              </a:ext>
            </a:extLst>
          </p:cNvPr>
          <p:cNvSpPr txBox="1"/>
          <p:nvPr/>
        </p:nvSpPr>
        <p:spPr>
          <a:xfrm>
            <a:off x="1168400" y="4826000"/>
            <a:ext cx="3949700" cy="276999"/>
          </a:xfrm>
          <a:prstGeom prst="rect">
            <a:avLst/>
          </a:prstGeom>
          <a:noFill/>
        </p:spPr>
        <p:txBody>
          <a:bodyPr vert="horz" wrap="none" lIns="0" tIns="0" rIns="0" bIns="0" rtlCol="0">
            <a:noAutofit/>
          </a:bodyPr>
          <a:lstStyle/>
          <a:p>
            <a:pPr algn="ctr"/>
            <a:r>
              <a:rPr lang="vi-VN" sz="1600" b="1">
                <a:solidFill>
                  <a:srgbClr val="333333"/>
                </a:solidFill>
                <a:latin typeface="Arial" panose="020B0604020202020204" pitchFamily="34" charset="0"/>
              </a:rPr>
              <a:t>PI/PID → PWM → TB6612
Động cơ hai bánh</a:t>
            </a:r>
            <a:endParaRPr lang="en-US" sz="1600" b="1">
              <a:solidFill>
                <a:srgbClr val="333333"/>
              </a:solidFill>
              <a:latin typeface="Arial" panose="020B0604020202020204" pitchFamily="34" charset="0"/>
            </a:endParaRPr>
          </a:p>
        </p:txBody>
      </p:sp>
      <p:sp>
        <p:nvSpPr>
          <p:cNvPr id="24" name="Rectangle 23">
            <a:extLst>
              <a:ext uri="{FF2B5EF4-FFF2-40B4-BE49-F238E27FC236}">
                <a16:creationId xmlns:a16="http://schemas.microsoft.com/office/drawing/2014/main" id="{CAFE67CA-B942-099E-5156-EA9D02ADB562}"/>
              </a:ext>
            </a:extLst>
          </p:cNvPr>
          <p:cNvSpPr/>
          <p:nvPr/>
        </p:nvSpPr>
        <p:spPr>
          <a:xfrm rot="5400000">
            <a:off x="3060700" y="5499100"/>
            <a:ext cx="152400" cy="25400"/>
          </a:xfrm>
          <a:prstGeom prst="rect">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559B7747-6F0C-6511-D92A-19EE35534801}"/>
              </a:ext>
            </a:extLst>
          </p:cNvPr>
          <p:cNvSpPr/>
          <p:nvPr/>
        </p:nvSpPr>
        <p:spPr>
          <a:xfrm rot="10800000">
            <a:off x="3073400" y="5524500"/>
            <a:ext cx="127000" cy="127000"/>
          </a:xfrm>
          <a:prstGeom prst="triangle">
            <a:avLst/>
          </a:prstGeom>
          <a:solidFill>
            <a:srgbClr val="BB101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0BE446BF-84C6-58BB-A3CD-1A9F92A4A69B}"/>
              </a:ext>
            </a:extLst>
          </p:cNvPr>
          <p:cNvSpPr/>
          <p:nvPr/>
        </p:nvSpPr>
        <p:spPr>
          <a:xfrm>
            <a:off x="1016000" y="5664200"/>
            <a:ext cx="4254500" cy="647700"/>
          </a:xfrm>
          <a:prstGeom prst="roundRect">
            <a:avLst/>
          </a:prstGeom>
          <a:solidFill>
            <a:srgbClr val="F6F6F6"/>
          </a:solidFill>
          <a:ln w="10160">
            <a:solidFill>
              <a:srgbClr val="F6F6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A06B66D-75D9-F112-C48F-4977EF70D374}"/>
              </a:ext>
            </a:extLst>
          </p:cNvPr>
          <p:cNvSpPr txBox="1"/>
          <p:nvPr/>
        </p:nvSpPr>
        <p:spPr>
          <a:xfrm>
            <a:off x="1168400" y="5778500"/>
            <a:ext cx="3949700" cy="276999"/>
          </a:xfrm>
          <a:prstGeom prst="rect">
            <a:avLst/>
          </a:prstGeom>
          <a:noFill/>
        </p:spPr>
        <p:txBody>
          <a:bodyPr vert="horz" wrap="none" lIns="0" tIns="0" rIns="0" bIns="0" rtlCol="0">
            <a:noAutofit/>
          </a:bodyPr>
          <a:lstStyle/>
          <a:p>
            <a:pPr algn="ctr"/>
            <a:r>
              <a:rPr lang="en-US" sz="1600" b="1">
                <a:solidFill>
                  <a:srgbClr val="333333"/>
                </a:solidFill>
                <a:latin typeface="Arial" panose="020B0604020202020204" pitchFamily="34" charset="0"/>
              </a:rPr>
              <a:t>Encoder
Vận tốc đo / Odometry</a:t>
            </a:r>
          </a:p>
        </p:txBody>
      </p:sp>
      <p:sp>
        <p:nvSpPr>
          <p:cNvPr id="28" name="Rectangle 27">
            <a:extLst>
              <a:ext uri="{FF2B5EF4-FFF2-40B4-BE49-F238E27FC236}">
                <a16:creationId xmlns:a16="http://schemas.microsoft.com/office/drawing/2014/main" id="{8E112D89-3CF6-B43B-1F75-FBB215B39802}"/>
              </a:ext>
            </a:extLst>
          </p:cNvPr>
          <p:cNvSpPr/>
          <p:nvPr/>
        </p:nvSpPr>
        <p:spPr>
          <a:xfrm rot="10800000">
            <a:off x="609600" y="5971540"/>
            <a:ext cx="406400" cy="20320"/>
          </a:xfrm>
          <a:prstGeom prst="rect">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9DA8456-429E-5B28-FD57-46E8E9A3E0D4}"/>
              </a:ext>
            </a:extLst>
          </p:cNvPr>
          <p:cNvSpPr/>
          <p:nvPr/>
        </p:nvSpPr>
        <p:spPr>
          <a:xfrm rot="-5400000">
            <a:off x="-812800" y="4549140"/>
            <a:ext cx="2844800" cy="20320"/>
          </a:xfrm>
          <a:prstGeom prst="rect">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78F4803-294F-85C7-4EAA-3A4FA682A1C5}"/>
              </a:ext>
            </a:extLst>
          </p:cNvPr>
          <p:cNvSpPr/>
          <p:nvPr/>
        </p:nvSpPr>
        <p:spPr>
          <a:xfrm>
            <a:off x="609600" y="3126740"/>
            <a:ext cx="368300" cy="20320"/>
          </a:xfrm>
          <a:prstGeom prst="rect">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Isosceles Triangle 30">
            <a:extLst>
              <a:ext uri="{FF2B5EF4-FFF2-40B4-BE49-F238E27FC236}">
                <a16:creationId xmlns:a16="http://schemas.microsoft.com/office/drawing/2014/main" id="{D48817CB-1649-57C5-04B2-B8DC087A6E95}"/>
              </a:ext>
            </a:extLst>
          </p:cNvPr>
          <p:cNvSpPr/>
          <p:nvPr/>
        </p:nvSpPr>
        <p:spPr>
          <a:xfrm rot="5400000">
            <a:off x="914400" y="3073400"/>
            <a:ext cx="127000" cy="127000"/>
          </a:xfrm>
          <a:prstGeom prst="triangl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85E870B-0B72-0380-E0A5-B5748FD51234}"/>
              </a:ext>
            </a:extLst>
          </p:cNvPr>
          <p:cNvSpPr/>
          <p:nvPr/>
        </p:nvSpPr>
        <p:spPr>
          <a:xfrm>
            <a:off x="609600" y="5044440"/>
            <a:ext cx="368300" cy="20320"/>
          </a:xfrm>
          <a:prstGeom prst="rect">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6E5AC2D2-80D7-D1E8-921D-4B368F49362B}"/>
              </a:ext>
            </a:extLst>
          </p:cNvPr>
          <p:cNvSpPr/>
          <p:nvPr/>
        </p:nvSpPr>
        <p:spPr>
          <a:xfrm rot="5400000">
            <a:off x="914400" y="4991100"/>
            <a:ext cx="127000" cy="127000"/>
          </a:xfrm>
          <a:prstGeom prst="triangle">
            <a:avLst/>
          </a:prstGeom>
          <a:solidFill>
            <a:srgbClr val="77777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6FADA19-16BC-3FDF-FB9C-7736525AB481}"/>
              </a:ext>
            </a:extLst>
          </p:cNvPr>
          <p:cNvSpPr txBox="1"/>
          <p:nvPr/>
        </p:nvSpPr>
        <p:spPr>
          <a:xfrm>
            <a:off x="6032500" y="1968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Vòng ngoài: Pure Pursuit</a:t>
            </a:r>
          </a:p>
        </p:txBody>
      </p:sp>
      <p:sp>
        <p:nvSpPr>
          <p:cNvPr id="35" name="TextBox 34">
            <a:extLst>
              <a:ext uri="{FF2B5EF4-FFF2-40B4-BE49-F238E27FC236}">
                <a16:creationId xmlns:a16="http://schemas.microsoft.com/office/drawing/2014/main" id="{10993276-8A3E-D836-7E4F-D137F34F7C3B}"/>
              </a:ext>
            </a:extLst>
          </p:cNvPr>
          <p:cNvSpPr txBox="1"/>
          <p:nvPr/>
        </p:nvSpPr>
        <p:spPr>
          <a:xfrm>
            <a:off x="6032500" y="2298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Chọn điểm nhìn trước trên đường; tạo vận tốc thân xe
từ tham chiếu và tư thế ước lượng.</a:t>
            </a:r>
            <a:endParaRPr lang="en-US" sz="1750">
              <a:solidFill>
                <a:srgbClr val="202020"/>
              </a:solidFill>
              <a:latin typeface="Arial" panose="020B0604020202020204" pitchFamily="34" charset="0"/>
            </a:endParaRPr>
          </a:p>
        </p:txBody>
      </p:sp>
      <p:sp>
        <p:nvSpPr>
          <p:cNvPr id="36" name="TextBox 35">
            <a:extLst>
              <a:ext uri="{FF2B5EF4-FFF2-40B4-BE49-F238E27FC236}">
                <a16:creationId xmlns:a16="http://schemas.microsoft.com/office/drawing/2014/main" id="{80532524-C5E2-8CCE-B390-27CE903B7EE8}"/>
              </a:ext>
            </a:extLst>
          </p:cNvPr>
          <p:cNvSpPr txBox="1"/>
          <p:nvPr/>
        </p:nvSpPr>
        <p:spPr>
          <a:xfrm>
            <a:off x="6032500" y="30480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Quy đổi vận tốc hai bánh</a:t>
            </a:r>
          </a:p>
        </p:txBody>
      </p:sp>
      <p:sp>
        <p:nvSpPr>
          <p:cNvPr id="37" name="TextBox 36">
            <a:extLst>
              <a:ext uri="{FF2B5EF4-FFF2-40B4-BE49-F238E27FC236}">
                <a16:creationId xmlns:a16="http://schemas.microsoft.com/office/drawing/2014/main" id="{671D9B61-1796-3E2D-C6DC-D72A06301188}"/>
              </a:ext>
            </a:extLst>
          </p:cNvPr>
          <p:cNvSpPr txBox="1"/>
          <p:nvPr/>
        </p:nvSpPr>
        <p:spPr>
          <a:xfrm>
            <a:off x="6032500" y="3378200"/>
            <a:ext cx="5588000" cy="276999"/>
          </a:xfrm>
          <a:prstGeom prst="rect">
            <a:avLst/>
          </a:prstGeom>
          <a:noFill/>
        </p:spPr>
        <p:txBody>
          <a:bodyPr vert="horz" wrap="none" lIns="0" tIns="0" rIns="0" bIns="0" rtlCol="0">
            <a:noAutofit/>
          </a:bodyPr>
          <a:lstStyle/>
          <a:p>
            <a:r>
              <a:rPr lang="en-US" sz="1750">
                <a:solidFill>
                  <a:srgbClr val="202020"/>
                </a:solidFill>
                <a:latin typeface="Arial" panose="020B0604020202020204" pitchFamily="34" charset="0"/>
              </a:rPr>
              <a:t>vR = vc + L</a:t>
            </a:r>
            <a:r>
              <a:rPr lang="el-GR" sz="1750">
                <a:solidFill>
                  <a:srgbClr val="202020"/>
                </a:solidFill>
                <a:latin typeface="Arial" panose="020B0604020202020204" pitchFamily="34" charset="0"/>
              </a:rPr>
              <a:t>ω</a:t>
            </a:r>
            <a:r>
              <a:rPr lang="en-US" sz="1750">
                <a:solidFill>
                  <a:srgbClr val="202020"/>
                </a:solidFill>
                <a:latin typeface="Arial" panose="020B0604020202020204" pitchFamily="34" charset="0"/>
              </a:rPr>
              <a:t>c/2; vL = vc − L</a:t>
            </a:r>
            <a:r>
              <a:rPr lang="el-GR" sz="1750">
                <a:solidFill>
                  <a:srgbClr val="202020"/>
                </a:solidFill>
                <a:latin typeface="Arial" panose="020B0604020202020204" pitchFamily="34" charset="0"/>
              </a:rPr>
              <a:t>ω</a:t>
            </a:r>
            <a:r>
              <a:rPr lang="en-US" sz="1750">
                <a:solidFill>
                  <a:srgbClr val="202020"/>
                </a:solidFill>
                <a:latin typeface="Arial" panose="020B0604020202020204" pitchFamily="34" charset="0"/>
              </a:rPr>
              <a:t>c/2.
L là khoảng cách hai bánh chủ động.</a:t>
            </a:r>
          </a:p>
        </p:txBody>
      </p:sp>
      <p:sp>
        <p:nvSpPr>
          <p:cNvPr id="38" name="TextBox 37">
            <a:extLst>
              <a:ext uri="{FF2B5EF4-FFF2-40B4-BE49-F238E27FC236}">
                <a16:creationId xmlns:a16="http://schemas.microsoft.com/office/drawing/2014/main" id="{51618126-5AED-E540-3A4B-18CD42C79019}"/>
              </a:ext>
            </a:extLst>
          </p:cNvPr>
          <p:cNvSpPr txBox="1"/>
          <p:nvPr/>
        </p:nvSpPr>
        <p:spPr>
          <a:xfrm>
            <a:off x="6032500" y="4127500"/>
            <a:ext cx="5588000" cy="276999"/>
          </a:xfrm>
          <a:prstGeom prst="rect">
            <a:avLst/>
          </a:prstGeom>
          <a:noFill/>
        </p:spPr>
        <p:txBody>
          <a:bodyPr vert="horz" wrap="none" lIns="0" tIns="0" rIns="0" bIns="0" rtlCol="0">
            <a:noAutofit/>
          </a:bodyPr>
          <a:lstStyle/>
          <a:p>
            <a:r>
              <a:rPr lang="nn-NO" sz="1900" b="1">
                <a:solidFill>
                  <a:srgbClr val="202020"/>
                </a:solidFill>
                <a:latin typeface="Arial" panose="020B0604020202020204" pitchFamily="34" charset="0"/>
              </a:rPr>
              <a:t>Vòng trong: PI/PID và PWM</a:t>
            </a:r>
            <a:endParaRPr lang="en-US" sz="1900" b="1">
              <a:solidFill>
                <a:srgbClr val="202020"/>
              </a:solidFill>
              <a:latin typeface="Arial" panose="020B0604020202020204" pitchFamily="34" charset="0"/>
            </a:endParaRPr>
          </a:p>
        </p:txBody>
      </p:sp>
      <p:sp>
        <p:nvSpPr>
          <p:cNvPr id="39" name="TextBox 38">
            <a:extLst>
              <a:ext uri="{FF2B5EF4-FFF2-40B4-BE49-F238E27FC236}">
                <a16:creationId xmlns:a16="http://schemas.microsoft.com/office/drawing/2014/main" id="{DB737F82-AE9A-1FA8-FC65-1449F3D63715}"/>
              </a:ext>
            </a:extLst>
          </p:cNvPr>
          <p:cNvSpPr txBox="1"/>
          <p:nvPr/>
        </p:nvSpPr>
        <p:spPr>
          <a:xfrm>
            <a:off x="6032500" y="4457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Mỗi bánh dùng phản hồi encoder; khởi đầu với PI và
giới hạn duty trước khi đưa tới driver.</a:t>
            </a:r>
            <a:endParaRPr lang="en-US" sz="1750">
              <a:solidFill>
                <a:srgbClr val="202020"/>
              </a:solidFill>
              <a:latin typeface="Arial" panose="020B0604020202020204" pitchFamily="34" charset="0"/>
            </a:endParaRPr>
          </a:p>
        </p:txBody>
      </p:sp>
      <p:sp>
        <p:nvSpPr>
          <p:cNvPr id="40" name="TextBox 39">
            <a:extLst>
              <a:ext uri="{FF2B5EF4-FFF2-40B4-BE49-F238E27FC236}">
                <a16:creationId xmlns:a16="http://schemas.microsoft.com/office/drawing/2014/main" id="{23567B6F-5FDF-E2C7-FDE2-E48C109D768B}"/>
              </a:ext>
            </a:extLst>
          </p:cNvPr>
          <p:cNvSpPr txBox="1"/>
          <p:nvPr/>
        </p:nvSpPr>
        <p:spPr>
          <a:xfrm>
            <a:off x="6032500" y="52070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Giới hạn và điều kiện thực thi</a:t>
            </a:r>
          </a:p>
        </p:txBody>
      </p:sp>
      <p:sp>
        <p:nvSpPr>
          <p:cNvPr id="41" name="TextBox 40">
            <a:extLst>
              <a:ext uri="{FF2B5EF4-FFF2-40B4-BE49-F238E27FC236}">
                <a16:creationId xmlns:a16="http://schemas.microsoft.com/office/drawing/2014/main" id="{0F3EE6BF-ADC8-AF37-0A9D-2F6AA7ED32F6}"/>
              </a:ext>
            </a:extLst>
          </p:cNvPr>
          <p:cNvSpPr txBox="1"/>
          <p:nvPr/>
        </p:nvSpPr>
        <p:spPr>
          <a:xfrm>
            <a:off x="6032500" y="55372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Xét vận tốc, gia tốc; giảm đồng thời hai lệnh khi quá
tốc bánh. Dừng nếu đường không còn hợp lệ.</a:t>
            </a:r>
            <a:endParaRPr lang="en-US" sz="1750">
              <a:solidFill>
                <a:srgbClr val="202020"/>
              </a:solidFill>
              <a:latin typeface="Arial" panose="020B0604020202020204" pitchFamily="34" charset="0"/>
            </a:endParaRPr>
          </a:p>
        </p:txBody>
      </p:sp>
    </p:spTree>
    <p:extLst>
      <p:ext uri="{BB962C8B-B14F-4D97-AF65-F5344CB8AC3E}">
        <p14:creationId xmlns:p14="http://schemas.microsoft.com/office/powerpoint/2010/main" val="2652180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41B27B-CEC7-2AB9-B0E3-B027784A9A8A}"/>
              </a:ext>
            </a:extLst>
          </p:cNvPr>
          <p:cNvSpPr/>
          <p:nvPr/>
        </p:nvSpPr>
        <p:spPr>
          <a:xfrm>
            <a:off x="0" y="0"/>
            <a:ext cx="12192000" cy="1701800"/>
          </a:xfrm>
          <a:prstGeom prst="rect">
            <a:avLst/>
          </a:prstGeom>
          <a:solidFill>
            <a:srgbClr val="ED1010"/>
          </a:solidFill>
          <a:ln w="10160">
            <a:solidFill>
              <a:srgbClr val="ED10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2FEFA35-C041-B435-35B2-D83B589158DC}"/>
              </a:ext>
            </a:extLst>
          </p:cNvPr>
          <p:cNvSpPr/>
          <p:nvPr/>
        </p:nvSpPr>
        <p:spPr>
          <a:xfrm rot="5400000">
            <a:off x="-323850" y="812800"/>
            <a:ext cx="1638300" cy="12700"/>
          </a:xfrm>
          <a:prstGeom prst="rect">
            <a:avLst/>
          </a:prstGeom>
          <a:solidFill>
            <a:srgbClr val="FFC2C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55341A0-A11E-E975-D394-195F43C554FE}"/>
              </a:ext>
            </a:extLst>
          </p:cNvPr>
          <p:cNvSpPr/>
          <p:nvPr/>
        </p:nvSpPr>
        <p:spPr>
          <a:xfrm>
            <a:off x="952500" y="1657350"/>
            <a:ext cx="1054100" cy="12700"/>
          </a:xfrm>
          <a:prstGeom prst="rect">
            <a:avLst/>
          </a:prstGeom>
          <a:solidFill>
            <a:srgbClr val="FFAAA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01905EA-F9A8-87E3-16CC-C04770A88B5B}"/>
              </a:ext>
            </a:extLst>
          </p:cNvPr>
          <p:cNvSpPr txBox="1"/>
          <p:nvPr/>
        </p:nvSpPr>
        <p:spPr>
          <a:xfrm>
            <a:off x="736600" y="254000"/>
            <a:ext cx="10287000" cy="276999"/>
          </a:xfrm>
          <a:prstGeom prst="rect">
            <a:avLst/>
          </a:prstGeom>
          <a:noFill/>
        </p:spPr>
        <p:txBody>
          <a:bodyPr vert="horz" wrap="none" lIns="0" tIns="0" rIns="0" bIns="0" rtlCol="0">
            <a:noAutofit/>
          </a:bodyPr>
          <a:lstStyle/>
          <a:p>
            <a:r>
              <a:rPr lang="en-US" sz="3400" b="1">
                <a:solidFill>
                  <a:srgbClr val="FFFFFF"/>
                </a:solidFill>
                <a:latin typeface="Arial" panose="020B0604020202020204" pitchFamily="34" charset="0"/>
              </a:rPr>
              <a:t>4.3 Kết quả thực nghiệm
và đánh giá sai số</a:t>
            </a:r>
          </a:p>
        </p:txBody>
      </p:sp>
      <p:sp>
        <p:nvSpPr>
          <p:cNvPr id="6" name="TextBox 5">
            <a:extLst>
              <a:ext uri="{FF2B5EF4-FFF2-40B4-BE49-F238E27FC236}">
                <a16:creationId xmlns:a16="http://schemas.microsoft.com/office/drawing/2014/main" id="{386AE537-C993-431E-9B97-6F27DCC1394C}"/>
              </a:ext>
            </a:extLst>
          </p:cNvPr>
          <p:cNvSpPr txBox="1"/>
          <p:nvPr/>
        </p:nvSpPr>
        <p:spPr>
          <a:xfrm>
            <a:off x="10337800" y="1371600"/>
            <a:ext cx="1587500" cy="276999"/>
          </a:xfrm>
          <a:prstGeom prst="rect">
            <a:avLst/>
          </a:prstGeom>
          <a:noFill/>
        </p:spPr>
        <p:txBody>
          <a:bodyPr vert="horz" wrap="none" lIns="0" tIns="0" rIns="0" bIns="0" rtlCol="0">
            <a:noAutofit/>
          </a:bodyPr>
          <a:lstStyle/>
          <a:p>
            <a:pPr algn="r"/>
            <a:r>
              <a:rPr lang="vi-VN" sz="1000" b="1">
                <a:solidFill>
                  <a:srgbClr val="FFE5E5"/>
                </a:solidFill>
                <a:latin typeface="Arial" panose="020B0604020202020204" pitchFamily="34" charset="0"/>
              </a:rPr>
              <a:t>CHƯƠNG IV</a:t>
            </a:r>
            <a:endParaRPr lang="en-US" sz="1000" b="1">
              <a:solidFill>
                <a:srgbClr val="FFE5E5"/>
              </a:solidFill>
              <a:latin typeface="Arial" panose="020B0604020202020204" pitchFamily="34" charset="0"/>
            </a:endParaRPr>
          </a:p>
        </p:txBody>
      </p:sp>
      <p:sp>
        <p:nvSpPr>
          <p:cNvPr id="7" name="Rectangle 6">
            <a:extLst>
              <a:ext uri="{FF2B5EF4-FFF2-40B4-BE49-F238E27FC236}">
                <a16:creationId xmlns:a16="http://schemas.microsoft.com/office/drawing/2014/main" id="{57176538-6E82-565D-BA8C-F9F1DE4E5062}"/>
              </a:ext>
            </a:extLst>
          </p:cNvPr>
          <p:cNvSpPr/>
          <p:nvPr/>
        </p:nvSpPr>
        <p:spPr>
          <a:xfrm>
            <a:off x="444500" y="6472555"/>
            <a:ext cx="11303000" cy="8890"/>
          </a:xfrm>
          <a:prstGeom prst="rect">
            <a:avLst/>
          </a:prstGeom>
          <a:solidFill>
            <a:srgbClr val="E6E6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2B2FA64-83AD-8BF7-60FD-5D8E5DF9F37C}"/>
              </a:ext>
            </a:extLst>
          </p:cNvPr>
          <p:cNvSpPr txBox="1"/>
          <p:nvPr/>
        </p:nvSpPr>
        <p:spPr>
          <a:xfrm>
            <a:off x="444500" y="6591300"/>
            <a:ext cx="10477500" cy="276999"/>
          </a:xfrm>
          <a:prstGeom prst="rect">
            <a:avLst/>
          </a:prstGeom>
          <a:noFill/>
        </p:spPr>
        <p:txBody>
          <a:bodyPr vert="horz" wrap="none" lIns="0" tIns="0" rIns="0" bIns="0" rtlCol="0">
            <a:noAutofit/>
          </a:bodyPr>
          <a:lstStyle/>
          <a:p>
            <a:r>
              <a:rPr lang="en-US" sz="900">
                <a:solidFill>
                  <a:srgbClr val="666666"/>
                </a:solidFill>
                <a:latin typeface="Arial" panose="020B0604020202020204" pitchFamily="34" charset="0"/>
              </a:rPr>
              <a:t>Nguồn: main.tex, mục 4.3 • Hiện trình bày quy trình, tiêu chí và biểu mẫu thực nghiệm.</a:t>
            </a:r>
          </a:p>
        </p:txBody>
      </p:sp>
      <p:sp>
        <p:nvSpPr>
          <p:cNvPr id="9" name="TextBox 8">
            <a:extLst>
              <a:ext uri="{FF2B5EF4-FFF2-40B4-BE49-F238E27FC236}">
                <a16:creationId xmlns:a16="http://schemas.microsoft.com/office/drawing/2014/main" id="{2912801C-8D5B-9575-57BC-A3ADA2352DB3}"/>
              </a:ext>
            </a:extLst>
          </p:cNvPr>
          <p:cNvSpPr txBox="1"/>
          <p:nvPr/>
        </p:nvSpPr>
        <p:spPr>
          <a:xfrm>
            <a:off x="10922000" y="6565900"/>
            <a:ext cx="825500" cy="276999"/>
          </a:xfrm>
          <a:prstGeom prst="rect">
            <a:avLst/>
          </a:prstGeom>
          <a:noFill/>
        </p:spPr>
        <p:txBody>
          <a:bodyPr vert="horz" wrap="none" lIns="0" tIns="0" rIns="0" bIns="0" rtlCol="0">
            <a:noAutofit/>
          </a:bodyPr>
          <a:lstStyle/>
          <a:p>
            <a:pPr algn="r"/>
            <a:r>
              <a:rPr lang="en-US" sz="1100">
                <a:solidFill>
                  <a:srgbClr val="777777"/>
                </a:solidFill>
                <a:latin typeface="Arial" panose="020B0604020202020204" pitchFamily="34" charset="0"/>
              </a:rPr>
              <a:t>19 / 19</a:t>
            </a:r>
          </a:p>
        </p:txBody>
      </p:sp>
      <p:sp>
        <p:nvSpPr>
          <p:cNvPr id="10" name="Rectangle: Rounded Corners 9">
            <a:extLst>
              <a:ext uri="{FF2B5EF4-FFF2-40B4-BE49-F238E27FC236}">
                <a16:creationId xmlns:a16="http://schemas.microsoft.com/office/drawing/2014/main" id="{EBEA0C5D-ECC2-027B-8683-2183510CA7F7}"/>
              </a:ext>
            </a:extLst>
          </p:cNvPr>
          <p:cNvSpPr/>
          <p:nvPr/>
        </p:nvSpPr>
        <p:spPr>
          <a:xfrm>
            <a:off x="660400" y="1968500"/>
            <a:ext cx="4787900" cy="889000"/>
          </a:xfrm>
          <a:prstGeom prst="roundRect">
            <a:avLst/>
          </a:prstGeom>
          <a:solidFill>
            <a:srgbClr val="F6F6F6"/>
          </a:solidFill>
          <a:ln w="10160">
            <a:solidFill>
              <a:srgbClr val="F6F6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544E67-4FDE-9886-B44E-22D37EFA6C35}"/>
              </a:ext>
            </a:extLst>
          </p:cNvPr>
          <p:cNvSpPr txBox="1"/>
          <p:nvPr/>
        </p:nvSpPr>
        <p:spPr>
          <a:xfrm>
            <a:off x="838200" y="2108200"/>
            <a:ext cx="4445000" cy="276999"/>
          </a:xfrm>
          <a:prstGeom prst="rect">
            <a:avLst/>
          </a:prstGeom>
          <a:noFill/>
        </p:spPr>
        <p:txBody>
          <a:bodyPr vert="horz" wrap="none" lIns="0" tIns="0" rIns="0" bIns="0" rtlCol="0">
            <a:noAutofit/>
          </a:bodyPr>
          <a:lstStyle/>
          <a:p>
            <a:r>
              <a:rPr lang="vi-VN" sz="1700" b="1">
                <a:solidFill>
                  <a:srgbClr val="202020"/>
                </a:solidFill>
                <a:latin typeface="Arial" panose="020B0604020202020204" pitchFamily="34" charset="0"/>
              </a:rPr>
              <a:t>Kịch bản 1: bám đường định sẵn</a:t>
            </a:r>
            <a:endParaRPr lang="en-US" sz="1700" b="1">
              <a:solidFill>
                <a:srgbClr val="202020"/>
              </a:solidFill>
              <a:latin typeface="Arial" panose="020B0604020202020204" pitchFamily="34" charset="0"/>
            </a:endParaRPr>
          </a:p>
        </p:txBody>
      </p:sp>
      <p:sp>
        <p:nvSpPr>
          <p:cNvPr id="12" name="TextBox 11">
            <a:extLst>
              <a:ext uri="{FF2B5EF4-FFF2-40B4-BE49-F238E27FC236}">
                <a16:creationId xmlns:a16="http://schemas.microsoft.com/office/drawing/2014/main" id="{CC6DCE21-D62E-08D3-0C29-2BA628CBD1B4}"/>
              </a:ext>
            </a:extLst>
          </p:cNvPr>
          <p:cNvSpPr txBox="1"/>
          <p:nvPr/>
        </p:nvSpPr>
        <p:spPr>
          <a:xfrm>
            <a:off x="838200" y="2476500"/>
            <a:ext cx="4445000" cy="276999"/>
          </a:xfrm>
          <a:prstGeom prst="rect">
            <a:avLst/>
          </a:prstGeom>
          <a:noFill/>
        </p:spPr>
        <p:txBody>
          <a:bodyPr vert="horz" wrap="none" lIns="0" tIns="0" rIns="0" bIns="0" rtlCol="0">
            <a:noAutofit/>
          </a:bodyPr>
          <a:lstStyle/>
          <a:p>
            <a:r>
              <a:rPr lang="en-US" sz="1600">
                <a:solidFill>
                  <a:srgbClr val="202020"/>
                </a:solidFill>
                <a:latin typeface="Arial" panose="020B0604020202020204" pitchFamily="34" charset="0"/>
              </a:rPr>
              <a:t>Đường thẳng và đường cong chữ S.</a:t>
            </a:r>
          </a:p>
        </p:txBody>
      </p:sp>
      <p:sp>
        <p:nvSpPr>
          <p:cNvPr id="13" name="Rectangle: Rounded Corners 12">
            <a:extLst>
              <a:ext uri="{FF2B5EF4-FFF2-40B4-BE49-F238E27FC236}">
                <a16:creationId xmlns:a16="http://schemas.microsoft.com/office/drawing/2014/main" id="{4BB0562E-C915-4A55-AAD2-4B78942030B2}"/>
              </a:ext>
            </a:extLst>
          </p:cNvPr>
          <p:cNvSpPr/>
          <p:nvPr/>
        </p:nvSpPr>
        <p:spPr>
          <a:xfrm>
            <a:off x="660400" y="3035300"/>
            <a:ext cx="4787900" cy="1066800"/>
          </a:xfrm>
          <a:prstGeom prst="roundRect">
            <a:avLst/>
          </a:prstGeom>
          <a:solidFill>
            <a:srgbClr val="F6F6F6"/>
          </a:solidFill>
          <a:ln w="10160">
            <a:solidFill>
              <a:srgbClr val="F6F6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02CDCBD-6230-199F-E539-F00021BBEE19}"/>
              </a:ext>
            </a:extLst>
          </p:cNvPr>
          <p:cNvSpPr txBox="1"/>
          <p:nvPr/>
        </p:nvSpPr>
        <p:spPr>
          <a:xfrm>
            <a:off x="838200" y="3175000"/>
            <a:ext cx="4445000" cy="276999"/>
          </a:xfrm>
          <a:prstGeom prst="rect">
            <a:avLst/>
          </a:prstGeom>
          <a:noFill/>
        </p:spPr>
        <p:txBody>
          <a:bodyPr vert="horz" wrap="none" lIns="0" tIns="0" rIns="0" bIns="0" rtlCol="0">
            <a:noAutofit/>
          </a:bodyPr>
          <a:lstStyle/>
          <a:p>
            <a:r>
              <a:rPr lang="en-US" sz="1700" b="1">
                <a:solidFill>
                  <a:srgbClr val="202020"/>
                </a:solidFill>
                <a:latin typeface="Arial" panose="020B0604020202020204" pitchFamily="34" charset="0"/>
              </a:rPr>
              <a:t>Kịch bản 2: đi tránh vật cản</a:t>
            </a:r>
          </a:p>
        </p:txBody>
      </p:sp>
      <p:sp>
        <p:nvSpPr>
          <p:cNvPr id="15" name="TextBox 14">
            <a:extLst>
              <a:ext uri="{FF2B5EF4-FFF2-40B4-BE49-F238E27FC236}">
                <a16:creationId xmlns:a16="http://schemas.microsoft.com/office/drawing/2014/main" id="{903F6735-BFDB-A948-93F3-EFBAA50BC163}"/>
              </a:ext>
            </a:extLst>
          </p:cNvPr>
          <p:cNvSpPr txBox="1"/>
          <p:nvPr/>
        </p:nvSpPr>
        <p:spPr>
          <a:xfrm>
            <a:off x="838200" y="3543300"/>
            <a:ext cx="4445000" cy="276999"/>
          </a:xfrm>
          <a:prstGeom prst="rect">
            <a:avLst/>
          </a:prstGeom>
          <a:noFill/>
        </p:spPr>
        <p:txBody>
          <a:bodyPr vert="horz" wrap="none" lIns="0" tIns="0" rIns="0" bIns="0" rtlCol="0">
            <a:noAutofit/>
          </a:bodyPr>
          <a:lstStyle/>
          <a:p>
            <a:r>
              <a:rPr lang="vi-VN" sz="1600">
                <a:solidFill>
                  <a:srgbClr val="202020"/>
                </a:solidFill>
                <a:latin typeface="Arial" panose="020B0604020202020204" pitchFamily="34" charset="0"/>
              </a:rPr>
              <a:t>Vật cản tĩnh đã đo và nhập bản đồ; kiểm tra
đường trước khi chạy.</a:t>
            </a:r>
            <a:endParaRPr lang="en-US" sz="1600">
              <a:solidFill>
                <a:srgbClr val="202020"/>
              </a:solidFill>
              <a:latin typeface="Arial" panose="020B0604020202020204" pitchFamily="34" charset="0"/>
            </a:endParaRPr>
          </a:p>
        </p:txBody>
      </p:sp>
      <p:sp>
        <p:nvSpPr>
          <p:cNvPr id="16" name="TextBox 15">
            <a:extLst>
              <a:ext uri="{FF2B5EF4-FFF2-40B4-BE49-F238E27FC236}">
                <a16:creationId xmlns:a16="http://schemas.microsoft.com/office/drawing/2014/main" id="{F8B6FA45-A466-11D0-D3E7-F1F12A3A5BE0}"/>
              </a:ext>
            </a:extLst>
          </p:cNvPr>
          <p:cNvSpPr txBox="1"/>
          <p:nvPr/>
        </p:nvSpPr>
        <p:spPr>
          <a:xfrm>
            <a:off x="660400" y="4305300"/>
            <a:ext cx="4787900" cy="276999"/>
          </a:xfrm>
          <a:prstGeom prst="rect">
            <a:avLst/>
          </a:prstGeom>
          <a:noFill/>
        </p:spPr>
        <p:txBody>
          <a:bodyPr vert="horz" wrap="none" lIns="0" tIns="0" rIns="0" bIns="0" rtlCol="0">
            <a:noAutofit/>
          </a:bodyPr>
          <a:lstStyle/>
          <a:p>
            <a:r>
              <a:rPr lang="en-US" b="1">
                <a:solidFill>
                  <a:srgbClr val="202020"/>
                </a:solidFill>
                <a:latin typeface="Arial" panose="020B0604020202020204" pitchFamily="34" charset="0"/>
              </a:rPr>
              <a:t>Biểu mẫu đánh giá</a:t>
            </a:r>
          </a:p>
        </p:txBody>
      </p:sp>
      <p:sp>
        <p:nvSpPr>
          <p:cNvPr id="17" name="Rectangle 16">
            <a:extLst>
              <a:ext uri="{FF2B5EF4-FFF2-40B4-BE49-F238E27FC236}">
                <a16:creationId xmlns:a16="http://schemas.microsoft.com/office/drawing/2014/main" id="{8DF5C70E-0370-D2A2-764C-CF57C9A9D7C4}"/>
              </a:ext>
            </a:extLst>
          </p:cNvPr>
          <p:cNvSpPr/>
          <p:nvPr/>
        </p:nvSpPr>
        <p:spPr>
          <a:xfrm>
            <a:off x="660400" y="4749800"/>
            <a:ext cx="4787900" cy="368300"/>
          </a:xfrm>
          <a:prstGeom prst="rect">
            <a:avLst/>
          </a:prstGeom>
          <a:solidFill>
            <a:srgbClr val="EEEEEE"/>
          </a:solidFill>
          <a:ln w="10160">
            <a:solidFill>
              <a:srgbClr val="EEEE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44E5838-F3CB-034B-A905-BAE4D09CA622}"/>
              </a:ext>
            </a:extLst>
          </p:cNvPr>
          <p:cNvSpPr txBox="1"/>
          <p:nvPr/>
        </p:nvSpPr>
        <p:spPr>
          <a:xfrm>
            <a:off x="825500" y="4813300"/>
            <a:ext cx="2971800" cy="276999"/>
          </a:xfrm>
          <a:prstGeom prst="rect">
            <a:avLst/>
          </a:prstGeom>
          <a:noFill/>
        </p:spPr>
        <p:txBody>
          <a:bodyPr vert="horz" wrap="none" lIns="0" tIns="0" rIns="0" bIns="0" rtlCol="0">
            <a:noAutofit/>
          </a:bodyPr>
          <a:lstStyle/>
          <a:p>
            <a:r>
              <a:rPr lang="en-US" sz="1400" b="1">
                <a:solidFill>
                  <a:srgbClr val="202020"/>
                </a:solidFill>
                <a:latin typeface="Arial" panose="020B0604020202020204" pitchFamily="34" charset="0"/>
              </a:rPr>
              <a:t>Chỉ tiêu</a:t>
            </a:r>
          </a:p>
        </p:txBody>
      </p:sp>
      <p:sp>
        <p:nvSpPr>
          <p:cNvPr id="19" name="TextBox 18">
            <a:extLst>
              <a:ext uri="{FF2B5EF4-FFF2-40B4-BE49-F238E27FC236}">
                <a16:creationId xmlns:a16="http://schemas.microsoft.com/office/drawing/2014/main" id="{3D65355E-0D37-80CC-4FCE-2B74F14C92CD}"/>
              </a:ext>
            </a:extLst>
          </p:cNvPr>
          <p:cNvSpPr txBox="1"/>
          <p:nvPr/>
        </p:nvSpPr>
        <p:spPr>
          <a:xfrm>
            <a:off x="3873500" y="4813300"/>
            <a:ext cx="1422400" cy="276999"/>
          </a:xfrm>
          <a:prstGeom prst="rect">
            <a:avLst/>
          </a:prstGeom>
          <a:noFill/>
        </p:spPr>
        <p:txBody>
          <a:bodyPr vert="horz" wrap="none" lIns="0" tIns="0" rIns="0" bIns="0" rtlCol="0">
            <a:noAutofit/>
          </a:bodyPr>
          <a:lstStyle/>
          <a:p>
            <a:r>
              <a:rPr lang="en-US" sz="1400" b="1">
                <a:solidFill>
                  <a:srgbClr val="202020"/>
                </a:solidFill>
                <a:latin typeface="Arial" panose="020B0604020202020204" pitchFamily="34" charset="0"/>
              </a:rPr>
              <a:t>Trạng thái</a:t>
            </a:r>
          </a:p>
        </p:txBody>
      </p:sp>
      <p:sp>
        <p:nvSpPr>
          <p:cNvPr id="20" name="TextBox 19">
            <a:extLst>
              <a:ext uri="{FF2B5EF4-FFF2-40B4-BE49-F238E27FC236}">
                <a16:creationId xmlns:a16="http://schemas.microsoft.com/office/drawing/2014/main" id="{97E65839-6255-0DD6-74AD-0B131C83BBA5}"/>
              </a:ext>
            </a:extLst>
          </p:cNvPr>
          <p:cNvSpPr txBox="1"/>
          <p:nvPr/>
        </p:nvSpPr>
        <p:spPr>
          <a:xfrm>
            <a:off x="825500" y="5168900"/>
            <a:ext cx="2971800" cy="276999"/>
          </a:xfrm>
          <a:prstGeom prst="rect">
            <a:avLst/>
          </a:prstGeom>
          <a:noFill/>
        </p:spPr>
        <p:txBody>
          <a:bodyPr vert="horz" wrap="none" lIns="0" tIns="0" rIns="0" bIns="0" rtlCol="0">
            <a:noAutofit/>
          </a:bodyPr>
          <a:lstStyle/>
          <a:p>
            <a:r>
              <a:rPr lang="en-US" sz="1400">
                <a:solidFill>
                  <a:srgbClr val="202020"/>
                </a:solidFill>
                <a:latin typeface="Arial" panose="020B0604020202020204" pitchFamily="34" charset="0"/>
              </a:rPr>
              <a:t>RMSE vị trí đối chứng</a:t>
            </a:r>
          </a:p>
        </p:txBody>
      </p:sp>
      <p:sp>
        <p:nvSpPr>
          <p:cNvPr id="21" name="TextBox 20">
            <a:extLst>
              <a:ext uri="{FF2B5EF4-FFF2-40B4-BE49-F238E27FC236}">
                <a16:creationId xmlns:a16="http://schemas.microsoft.com/office/drawing/2014/main" id="{2459AF96-EB79-6967-3FED-C48B71523CB8}"/>
              </a:ext>
            </a:extLst>
          </p:cNvPr>
          <p:cNvSpPr txBox="1"/>
          <p:nvPr/>
        </p:nvSpPr>
        <p:spPr>
          <a:xfrm>
            <a:off x="3873500" y="5168900"/>
            <a:ext cx="1422400" cy="276999"/>
          </a:xfrm>
          <a:prstGeom prst="rect">
            <a:avLst/>
          </a:prstGeom>
          <a:noFill/>
        </p:spPr>
        <p:txBody>
          <a:bodyPr vert="horz" wrap="none" lIns="0" tIns="0" rIns="0" bIns="0" rtlCol="0">
            <a:noAutofit/>
          </a:bodyPr>
          <a:lstStyle/>
          <a:p>
            <a:r>
              <a:rPr lang="vi-VN" sz="1400" b="1">
                <a:solidFill>
                  <a:srgbClr val="B70C0C"/>
                </a:solidFill>
                <a:latin typeface="Arial" panose="020B0604020202020204" pitchFamily="34" charset="0"/>
              </a:rPr>
              <a:t>Chưa đo</a:t>
            </a:r>
            <a:endParaRPr lang="en-US" sz="1400" b="1">
              <a:solidFill>
                <a:srgbClr val="B70C0C"/>
              </a:solidFill>
              <a:latin typeface="Arial" panose="020B0604020202020204" pitchFamily="34" charset="0"/>
            </a:endParaRPr>
          </a:p>
        </p:txBody>
      </p:sp>
      <p:sp>
        <p:nvSpPr>
          <p:cNvPr id="22" name="Rectangle 21">
            <a:extLst>
              <a:ext uri="{FF2B5EF4-FFF2-40B4-BE49-F238E27FC236}">
                <a16:creationId xmlns:a16="http://schemas.microsoft.com/office/drawing/2014/main" id="{F4E54EBA-557D-435F-117B-2F81AA0606F7}"/>
              </a:ext>
            </a:extLst>
          </p:cNvPr>
          <p:cNvSpPr/>
          <p:nvPr/>
        </p:nvSpPr>
        <p:spPr>
          <a:xfrm>
            <a:off x="660400" y="5482590"/>
            <a:ext cx="4787900" cy="7620"/>
          </a:xfrm>
          <a:prstGeom prst="rect">
            <a:avLst/>
          </a:prstGeom>
          <a:solidFill>
            <a:srgbClr val="E3E3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FA3CFA4-DF37-1BB3-3B0D-722C54BB0716}"/>
              </a:ext>
            </a:extLst>
          </p:cNvPr>
          <p:cNvSpPr txBox="1"/>
          <p:nvPr/>
        </p:nvSpPr>
        <p:spPr>
          <a:xfrm>
            <a:off x="825500" y="5537200"/>
            <a:ext cx="2971800" cy="276999"/>
          </a:xfrm>
          <a:prstGeom prst="rect">
            <a:avLst/>
          </a:prstGeom>
          <a:noFill/>
        </p:spPr>
        <p:txBody>
          <a:bodyPr vert="horz" wrap="none" lIns="0" tIns="0" rIns="0" bIns="0" rtlCol="0">
            <a:noAutofit/>
          </a:bodyPr>
          <a:lstStyle/>
          <a:p>
            <a:r>
              <a:rPr lang="en-US" sz="1400">
                <a:solidFill>
                  <a:srgbClr val="202020"/>
                </a:solidFill>
                <a:latin typeface="Arial" panose="020B0604020202020204" pitchFamily="34" charset="0"/>
              </a:rPr>
              <a:t>Thời gian hoàn thành</a:t>
            </a:r>
          </a:p>
        </p:txBody>
      </p:sp>
      <p:sp>
        <p:nvSpPr>
          <p:cNvPr id="24" name="TextBox 23">
            <a:extLst>
              <a:ext uri="{FF2B5EF4-FFF2-40B4-BE49-F238E27FC236}">
                <a16:creationId xmlns:a16="http://schemas.microsoft.com/office/drawing/2014/main" id="{CC935F2C-E468-F9CC-960E-6A20C629F134}"/>
              </a:ext>
            </a:extLst>
          </p:cNvPr>
          <p:cNvSpPr txBox="1"/>
          <p:nvPr/>
        </p:nvSpPr>
        <p:spPr>
          <a:xfrm>
            <a:off x="3873500" y="5537200"/>
            <a:ext cx="1422400" cy="276999"/>
          </a:xfrm>
          <a:prstGeom prst="rect">
            <a:avLst/>
          </a:prstGeom>
          <a:noFill/>
        </p:spPr>
        <p:txBody>
          <a:bodyPr vert="horz" wrap="none" lIns="0" tIns="0" rIns="0" bIns="0" rtlCol="0">
            <a:noAutofit/>
          </a:bodyPr>
          <a:lstStyle/>
          <a:p>
            <a:r>
              <a:rPr lang="vi-VN" sz="1400" b="1">
                <a:solidFill>
                  <a:srgbClr val="B70C0C"/>
                </a:solidFill>
                <a:latin typeface="Arial" panose="020B0604020202020204" pitchFamily="34" charset="0"/>
              </a:rPr>
              <a:t>Chưa đo</a:t>
            </a:r>
            <a:endParaRPr lang="en-US" sz="1400" b="1">
              <a:solidFill>
                <a:srgbClr val="B70C0C"/>
              </a:solidFill>
              <a:latin typeface="Arial" panose="020B0604020202020204" pitchFamily="34" charset="0"/>
            </a:endParaRPr>
          </a:p>
        </p:txBody>
      </p:sp>
      <p:sp>
        <p:nvSpPr>
          <p:cNvPr id="25" name="Rectangle 24">
            <a:extLst>
              <a:ext uri="{FF2B5EF4-FFF2-40B4-BE49-F238E27FC236}">
                <a16:creationId xmlns:a16="http://schemas.microsoft.com/office/drawing/2014/main" id="{628826CC-9616-BCFA-A1B3-D096D7D9EDE3}"/>
              </a:ext>
            </a:extLst>
          </p:cNvPr>
          <p:cNvSpPr/>
          <p:nvPr/>
        </p:nvSpPr>
        <p:spPr>
          <a:xfrm>
            <a:off x="660400" y="5850890"/>
            <a:ext cx="4787900" cy="7620"/>
          </a:xfrm>
          <a:prstGeom prst="rect">
            <a:avLst/>
          </a:prstGeom>
          <a:solidFill>
            <a:srgbClr val="E3E3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35E7C92-4C9E-A3D1-2467-9BA274B7C14A}"/>
              </a:ext>
            </a:extLst>
          </p:cNvPr>
          <p:cNvSpPr txBox="1"/>
          <p:nvPr/>
        </p:nvSpPr>
        <p:spPr>
          <a:xfrm>
            <a:off x="825500" y="5905500"/>
            <a:ext cx="2971800" cy="276999"/>
          </a:xfrm>
          <a:prstGeom prst="rect">
            <a:avLst/>
          </a:prstGeom>
          <a:noFill/>
        </p:spPr>
        <p:txBody>
          <a:bodyPr vert="horz" wrap="none" lIns="0" tIns="0" rIns="0" bIns="0" rtlCol="0">
            <a:noAutofit/>
          </a:bodyPr>
          <a:lstStyle/>
          <a:p>
            <a:r>
              <a:rPr lang="en-US" sz="1400">
                <a:solidFill>
                  <a:srgbClr val="202020"/>
                </a:solidFill>
                <a:latin typeface="Arial" panose="020B0604020202020204" pitchFamily="34" charset="0"/>
              </a:rPr>
              <a:t>Tỷ lệ thành công</a:t>
            </a:r>
          </a:p>
        </p:txBody>
      </p:sp>
      <p:sp>
        <p:nvSpPr>
          <p:cNvPr id="27" name="TextBox 26">
            <a:extLst>
              <a:ext uri="{FF2B5EF4-FFF2-40B4-BE49-F238E27FC236}">
                <a16:creationId xmlns:a16="http://schemas.microsoft.com/office/drawing/2014/main" id="{41C783AF-BEF8-6345-6164-0CA670957780}"/>
              </a:ext>
            </a:extLst>
          </p:cNvPr>
          <p:cNvSpPr txBox="1"/>
          <p:nvPr/>
        </p:nvSpPr>
        <p:spPr>
          <a:xfrm>
            <a:off x="3873500" y="5905500"/>
            <a:ext cx="1422400" cy="276999"/>
          </a:xfrm>
          <a:prstGeom prst="rect">
            <a:avLst/>
          </a:prstGeom>
          <a:noFill/>
        </p:spPr>
        <p:txBody>
          <a:bodyPr vert="horz" wrap="none" lIns="0" tIns="0" rIns="0" bIns="0" rtlCol="0">
            <a:noAutofit/>
          </a:bodyPr>
          <a:lstStyle/>
          <a:p>
            <a:r>
              <a:rPr lang="vi-VN" sz="1400" b="1">
                <a:solidFill>
                  <a:srgbClr val="B70C0C"/>
                </a:solidFill>
                <a:latin typeface="Arial" panose="020B0604020202020204" pitchFamily="34" charset="0"/>
              </a:rPr>
              <a:t>Chưa đo</a:t>
            </a:r>
            <a:endParaRPr lang="en-US" sz="1400" b="1">
              <a:solidFill>
                <a:srgbClr val="B70C0C"/>
              </a:solidFill>
              <a:latin typeface="Arial" panose="020B0604020202020204" pitchFamily="34" charset="0"/>
            </a:endParaRPr>
          </a:p>
        </p:txBody>
      </p:sp>
      <p:sp>
        <p:nvSpPr>
          <p:cNvPr id="28" name="Rectangle 27">
            <a:extLst>
              <a:ext uri="{FF2B5EF4-FFF2-40B4-BE49-F238E27FC236}">
                <a16:creationId xmlns:a16="http://schemas.microsoft.com/office/drawing/2014/main" id="{5F3D2BBA-E9AE-326D-D60E-A76923ABCC3D}"/>
              </a:ext>
            </a:extLst>
          </p:cNvPr>
          <p:cNvSpPr/>
          <p:nvPr/>
        </p:nvSpPr>
        <p:spPr>
          <a:xfrm>
            <a:off x="660400" y="6219190"/>
            <a:ext cx="4787900" cy="7620"/>
          </a:xfrm>
          <a:prstGeom prst="rect">
            <a:avLst/>
          </a:prstGeom>
          <a:solidFill>
            <a:srgbClr val="E3E3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26493BF-593D-642F-A9D6-A5B8234DD478}"/>
              </a:ext>
            </a:extLst>
          </p:cNvPr>
          <p:cNvSpPr txBox="1"/>
          <p:nvPr/>
        </p:nvSpPr>
        <p:spPr>
          <a:xfrm>
            <a:off x="6032500" y="19685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Thống nhất điều kiện thử</a:t>
            </a:r>
          </a:p>
        </p:txBody>
      </p:sp>
      <p:sp>
        <p:nvSpPr>
          <p:cNvPr id="30" name="TextBox 29">
            <a:extLst>
              <a:ext uri="{FF2B5EF4-FFF2-40B4-BE49-F238E27FC236}">
                <a16:creationId xmlns:a16="http://schemas.microsoft.com/office/drawing/2014/main" id="{4B4D1B77-B4F9-6E24-FA58-40A91CE9140B}"/>
              </a:ext>
            </a:extLst>
          </p:cNvPr>
          <p:cNvSpPr txBox="1"/>
          <p:nvPr/>
        </p:nvSpPr>
        <p:spPr>
          <a:xfrm>
            <a:off x="6032500" y="22987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Chốt hình học xe, số đếm encoder, điều khiển, tải,
nguồn và mặt sàn trước đợt đo.</a:t>
            </a:r>
            <a:endParaRPr lang="en-US" sz="1750">
              <a:solidFill>
                <a:srgbClr val="202020"/>
              </a:solidFill>
              <a:latin typeface="Arial" panose="020B0604020202020204" pitchFamily="34" charset="0"/>
            </a:endParaRPr>
          </a:p>
        </p:txBody>
      </p:sp>
      <p:sp>
        <p:nvSpPr>
          <p:cNvPr id="31" name="TextBox 30">
            <a:extLst>
              <a:ext uri="{FF2B5EF4-FFF2-40B4-BE49-F238E27FC236}">
                <a16:creationId xmlns:a16="http://schemas.microsoft.com/office/drawing/2014/main" id="{5B2D88C2-C0D4-46D3-6919-F6BA5C78B265}"/>
              </a:ext>
            </a:extLst>
          </p:cNvPr>
          <p:cNvSpPr txBox="1"/>
          <p:nvPr/>
        </p:nvSpPr>
        <p:spPr>
          <a:xfrm>
            <a:off x="6032500" y="30734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Ghi dữ liệu và đo đối chứng</a:t>
            </a:r>
          </a:p>
        </p:txBody>
      </p:sp>
      <p:sp>
        <p:nvSpPr>
          <p:cNvPr id="32" name="TextBox 31">
            <a:extLst>
              <a:ext uri="{FF2B5EF4-FFF2-40B4-BE49-F238E27FC236}">
                <a16:creationId xmlns:a16="http://schemas.microsoft.com/office/drawing/2014/main" id="{89391BD1-2851-A4AD-55BE-DA523F350987}"/>
              </a:ext>
            </a:extLst>
          </p:cNvPr>
          <p:cNvSpPr txBox="1"/>
          <p:nvPr/>
        </p:nvSpPr>
        <p:spPr>
          <a:xfrm>
            <a:off x="6032500" y="34036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Lưu encoder, tốc độ đặt/đo, PWM, Odometry; dùng
camera hoặc mốc đo đánh giá vị trí thực.</a:t>
            </a:r>
            <a:endParaRPr lang="en-US" sz="1750">
              <a:solidFill>
                <a:srgbClr val="202020"/>
              </a:solidFill>
              <a:latin typeface="Arial" panose="020B0604020202020204" pitchFamily="34" charset="0"/>
            </a:endParaRPr>
          </a:p>
        </p:txBody>
      </p:sp>
      <p:sp>
        <p:nvSpPr>
          <p:cNvPr id="33" name="TextBox 32">
            <a:extLst>
              <a:ext uri="{FF2B5EF4-FFF2-40B4-BE49-F238E27FC236}">
                <a16:creationId xmlns:a16="http://schemas.microsoft.com/office/drawing/2014/main" id="{B787DD79-94FF-BAA9-9B31-EB0420184E1B}"/>
              </a:ext>
            </a:extLst>
          </p:cNvPr>
          <p:cNvSpPr txBox="1"/>
          <p:nvPr/>
        </p:nvSpPr>
        <p:spPr>
          <a:xfrm>
            <a:off x="6032500" y="4216400"/>
            <a:ext cx="5588000" cy="276999"/>
          </a:xfrm>
          <a:prstGeom prst="rect">
            <a:avLst/>
          </a:prstGeom>
          <a:noFill/>
        </p:spPr>
        <p:txBody>
          <a:bodyPr vert="horz" wrap="none" lIns="0" tIns="0" rIns="0" bIns="0" rtlCol="0">
            <a:noAutofit/>
          </a:bodyPr>
          <a:lstStyle/>
          <a:p>
            <a:r>
              <a:rPr lang="en-US" sz="1900" b="1">
                <a:solidFill>
                  <a:srgbClr val="202020"/>
                </a:solidFill>
                <a:latin typeface="Arial" panose="020B0604020202020204" pitchFamily="34" charset="0"/>
              </a:rPr>
              <a:t>Các chỉ tiêu cần đánh giá</a:t>
            </a:r>
          </a:p>
        </p:txBody>
      </p:sp>
      <p:sp>
        <p:nvSpPr>
          <p:cNvPr id="34" name="TextBox 33">
            <a:extLst>
              <a:ext uri="{FF2B5EF4-FFF2-40B4-BE49-F238E27FC236}">
                <a16:creationId xmlns:a16="http://schemas.microsoft.com/office/drawing/2014/main" id="{3A3A453A-CEDB-A8A3-41B2-F4E196D03ED2}"/>
              </a:ext>
            </a:extLst>
          </p:cNvPr>
          <p:cNvSpPr txBox="1"/>
          <p:nvPr/>
        </p:nvSpPr>
        <p:spPr>
          <a:xfrm>
            <a:off x="6032500" y="4546600"/>
            <a:ext cx="5588000" cy="276999"/>
          </a:xfrm>
          <a:prstGeom prst="rect">
            <a:avLst/>
          </a:prstGeom>
          <a:noFill/>
        </p:spPr>
        <p:txBody>
          <a:bodyPr vert="horz" wrap="none" lIns="0" tIns="0" rIns="0" bIns="0" rtlCol="0">
            <a:noAutofit/>
          </a:bodyPr>
          <a:lstStyle/>
          <a:p>
            <a:r>
              <a:rPr lang="vi-VN" sz="1750">
                <a:solidFill>
                  <a:srgbClr val="202020"/>
                </a:solidFill>
                <a:latin typeface="Arial" panose="020B0604020202020204" pitchFamily="34" charset="0"/>
              </a:rPr>
              <a:t>Sai số vị trí, ngang, hướng và điểm cuối; thời gian
hoàn thành, tỷ lệ thành công, PWM bão hòa.</a:t>
            </a:r>
            <a:endParaRPr lang="en-US" sz="1750">
              <a:solidFill>
                <a:srgbClr val="202020"/>
              </a:solidFill>
              <a:latin typeface="Arial" panose="020B0604020202020204" pitchFamily="34" charset="0"/>
            </a:endParaRPr>
          </a:p>
        </p:txBody>
      </p:sp>
      <p:sp>
        <p:nvSpPr>
          <p:cNvPr id="35" name="Rectangle: Rounded Corners 34">
            <a:extLst>
              <a:ext uri="{FF2B5EF4-FFF2-40B4-BE49-F238E27FC236}">
                <a16:creationId xmlns:a16="http://schemas.microsoft.com/office/drawing/2014/main" id="{582A9247-6CC7-DCA1-D606-6B4D525B3694}"/>
              </a:ext>
            </a:extLst>
          </p:cNvPr>
          <p:cNvSpPr/>
          <p:nvPr/>
        </p:nvSpPr>
        <p:spPr>
          <a:xfrm>
            <a:off x="6032500" y="5600700"/>
            <a:ext cx="5588000" cy="698500"/>
          </a:xfrm>
          <a:prstGeom prst="roundRect">
            <a:avLst/>
          </a:prstGeom>
          <a:solidFill>
            <a:srgbClr val="FFF0F0"/>
          </a:solidFill>
          <a:ln w="10160">
            <a:solidFill>
              <a:srgbClr val="FFF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D0C5D14B-7E0F-29AA-2F9D-D4D55F6C7482}"/>
              </a:ext>
            </a:extLst>
          </p:cNvPr>
          <p:cNvSpPr txBox="1"/>
          <p:nvPr/>
        </p:nvSpPr>
        <p:spPr>
          <a:xfrm>
            <a:off x="6197600" y="5727700"/>
            <a:ext cx="5257800" cy="276999"/>
          </a:xfrm>
          <a:prstGeom prst="rect">
            <a:avLst/>
          </a:prstGeom>
          <a:noFill/>
        </p:spPr>
        <p:txBody>
          <a:bodyPr vert="horz" wrap="none" lIns="0" tIns="0" rIns="0" bIns="0" rtlCol="0">
            <a:noAutofit/>
          </a:bodyPr>
          <a:lstStyle/>
          <a:p>
            <a:r>
              <a:rPr lang="vi-VN" sz="1550" b="1">
                <a:solidFill>
                  <a:srgbClr val="B70C0C"/>
                </a:solidFill>
                <a:latin typeface="Arial" panose="020B0604020202020204" pitchFamily="34" charset="0"/>
              </a:rPr>
              <a:t>Chưa có dữ liệu chạy robot; các bảng chưa dùng để
kết luận định lượng.</a:t>
            </a:r>
            <a:endParaRPr lang="en-US" sz="1550" b="1">
              <a:solidFill>
                <a:srgbClr val="B70C0C"/>
              </a:solidFill>
              <a:latin typeface="Arial" panose="020B0604020202020204" pitchFamily="34" charset="0"/>
            </a:endParaRPr>
          </a:p>
        </p:txBody>
      </p:sp>
    </p:spTree>
    <p:extLst>
      <p:ext uri="{BB962C8B-B14F-4D97-AF65-F5344CB8AC3E}">
        <p14:creationId xmlns:p14="http://schemas.microsoft.com/office/powerpoint/2010/main" val="40958574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875</Words>
  <Application>Microsoft Office PowerPoint</Application>
  <PresentationFormat>Custom</PresentationFormat>
  <Paragraphs>45</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wic</dc:creator>
  <cp:lastModifiedBy>K wic</cp:lastModifiedBy>
  <cp:revision>1</cp:revision>
  <dcterms:created xsi:type="dcterms:W3CDTF">2026-10-29T03:17:42Z</dcterms:created>
  <dcterms:modified xsi:type="dcterms:W3CDTF">2026-10-29T03:17:42Z</dcterms:modified>
</cp:coreProperties>
</file>